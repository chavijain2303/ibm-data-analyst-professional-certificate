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notesSlides/notesSlide12.xml" ContentType="application/vnd.openxmlformats-officedocument.presentationml.notesSlide+xml"/>
  <Override PartName="/ppt/tags/tag21.xml" ContentType="application/vnd.openxmlformats-officedocument.presentationml.tags+xml"/>
  <Override PartName="/ppt/notesSlides/notesSlide13.xml" ContentType="application/vnd.openxmlformats-officedocument.presentationml.notesSlide+xml"/>
  <Override PartName="/ppt/tags/tag22.xml" ContentType="application/vnd.openxmlformats-officedocument.presentationml.tags+xml"/>
  <Override PartName="/ppt/notesSlides/notesSlide1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5.xml" ContentType="application/vnd.openxmlformats-officedocument.presentationml.notesSlide+xml"/>
  <Override PartName="/ppt/tags/tag25.xml" ContentType="application/vnd.openxmlformats-officedocument.presentationml.tags+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28"/>
  </p:notesMasterIdLst>
  <p:sldIdLst>
    <p:sldId id="256" r:id="rId5"/>
    <p:sldId id="257" r:id="rId6"/>
    <p:sldId id="258" r:id="rId7"/>
    <p:sldId id="259" r:id="rId8"/>
    <p:sldId id="260" r:id="rId9"/>
    <p:sldId id="278" r:id="rId10"/>
    <p:sldId id="279" r:id="rId11"/>
    <p:sldId id="280" r:id="rId12"/>
    <p:sldId id="281" r:id="rId13"/>
    <p:sldId id="274" r:id="rId14"/>
    <p:sldId id="275"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Lst>
  <p:sldSz cx="12192000" cy="6858000"/>
  <p:notesSz cx="6858000" cy="1857375"/>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1480" autoAdjust="0"/>
  </p:normalViewPr>
  <p:slideViewPr>
    <p:cSldViewPr snapToGrid="0">
      <p:cViewPr varScale="1">
        <p:scale>
          <a:sx n="81" d="100"/>
          <a:sy n="81" d="100"/>
        </p:scale>
        <p:origin x="48" y="91"/>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3246745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3</a:t>
            </a:fld>
            <a:endParaRPr lang="en-US"/>
          </a:p>
        </p:txBody>
      </p:sp>
    </p:spTree>
    <p:extLst>
      <p:ext uri="{BB962C8B-B14F-4D97-AF65-F5344CB8AC3E}">
        <p14:creationId xmlns:p14="http://schemas.microsoft.com/office/powerpoint/2010/main" val="3493943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3127302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FE506-954F-3728-5D90-F6128A7EE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20675-85EF-3F8A-4392-0998A531C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4F946-DDA6-213F-2C3C-34121B84C5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28B8D8-3C5F-7217-94F6-B1F475A6D6A0}"/>
              </a:ext>
            </a:extLst>
          </p:cNvPr>
          <p:cNvSpPr>
            <a:spLocks noGrp="1"/>
          </p:cNvSpPr>
          <p:nvPr>
            <p:ph type="sldNum" sz="quarter" idx="5"/>
          </p:nvPr>
        </p:nvSpPr>
        <p:spPr/>
        <p:txBody>
          <a:bodyPr/>
          <a:lstStyle/>
          <a:p>
            <a:fld id="{EEBDA0E2-FEBD-4B65-8F16-724CF984F377}" type="slidenum">
              <a:rPr lang="en-US" smtClean="0"/>
              <a:t>7</a:t>
            </a:fld>
            <a:endParaRPr lang="en-US"/>
          </a:p>
        </p:txBody>
      </p:sp>
    </p:spTree>
    <p:extLst>
      <p:ext uri="{BB962C8B-B14F-4D97-AF65-F5344CB8AC3E}">
        <p14:creationId xmlns:p14="http://schemas.microsoft.com/office/powerpoint/2010/main" val="2030786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04FF-A8F6-8DD0-B6AF-AADF95CAF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5BB87-09BF-A33D-B145-37BFA557E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2F01B-209D-D053-09CC-A9A244422E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57454-B643-F193-10B2-C0282E114948}"/>
              </a:ext>
            </a:extLst>
          </p:cNvPr>
          <p:cNvSpPr>
            <a:spLocks noGrp="1"/>
          </p:cNvSpPr>
          <p:nvPr>
            <p:ph type="sldNum" sz="quarter" idx="5"/>
          </p:nvPr>
        </p:nvSpPr>
        <p:spPr/>
        <p:txBody>
          <a:bodyPr/>
          <a:lstStyle/>
          <a:p>
            <a:fld id="{EEBDA0E2-FEBD-4B65-8F16-724CF984F377}" type="slidenum">
              <a:rPr lang="en-US" smtClean="0"/>
              <a:t>8</a:t>
            </a:fld>
            <a:endParaRPr lang="en-US"/>
          </a:p>
        </p:txBody>
      </p:sp>
    </p:spTree>
    <p:extLst>
      <p:ext uri="{BB962C8B-B14F-4D97-AF65-F5344CB8AC3E}">
        <p14:creationId xmlns:p14="http://schemas.microsoft.com/office/powerpoint/2010/main" val="1593639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8DAA2-E285-988A-8C2F-C685D6C19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59D11-67E0-3614-7DA8-9742C1971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FB389-7FC8-F054-02BF-D8C6C2968B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4C9BF9-60EA-0E32-B01C-F75BD00D4AB9}"/>
              </a:ext>
            </a:extLst>
          </p:cNvPr>
          <p:cNvSpPr>
            <a:spLocks noGrp="1"/>
          </p:cNvSpPr>
          <p:nvPr>
            <p:ph type="sldNum" sz="quarter" idx="5"/>
          </p:nvPr>
        </p:nvSpPr>
        <p:spPr/>
        <p:txBody>
          <a:bodyPr/>
          <a:lstStyle/>
          <a:p>
            <a:fld id="{EEBDA0E2-FEBD-4B65-8F16-724CF984F377}" type="slidenum">
              <a:rPr lang="en-US" smtClean="0"/>
              <a:t>9</a:t>
            </a:fld>
            <a:endParaRPr lang="en-US"/>
          </a:p>
        </p:txBody>
      </p:sp>
    </p:spTree>
    <p:extLst>
      <p:ext uri="{BB962C8B-B14F-4D97-AF65-F5344CB8AC3E}">
        <p14:creationId xmlns:p14="http://schemas.microsoft.com/office/powerpoint/2010/main" val="1135256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10</a:t>
            </a:fld>
            <a:endParaRPr lang="en-US"/>
          </a:p>
        </p:txBody>
      </p:sp>
    </p:spTree>
    <p:extLst>
      <p:ext uri="{BB962C8B-B14F-4D97-AF65-F5344CB8AC3E}">
        <p14:creationId xmlns:p14="http://schemas.microsoft.com/office/powerpoint/2010/main" val="1317059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13</a:t>
            </a:fld>
            <a:endParaRPr lang="en-US"/>
          </a:p>
        </p:txBody>
      </p:sp>
    </p:spTree>
    <p:extLst>
      <p:ext uri="{BB962C8B-B14F-4D97-AF65-F5344CB8AC3E}">
        <p14:creationId xmlns:p14="http://schemas.microsoft.com/office/powerpoint/2010/main" val="3595194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14</a:t>
            </a:fld>
            <a:endParaRPr lang="en-US"/>
          </a:p>
        </p:txBody>
      </p:sp>
    </p:spTree>
    <p:extLst>
      <p:ext uri="{BB962C8B-B14F-4D97-AF65-F5344CB8AC3E}">
        <p14:creationId xmlns:p14="http://schemas.microsoft.com/office/powerpoint/2010/main" val="2029758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15</a:t>
            </a:fld>
            <a:endParaRPr lang="en-US"/>
          </a:p>
        </p:txBody>
      </p:sp>
    </p:spTree>
    <p:extLst>
      <p:ext uri="{BB962C8B-B14F-4D97-AF65-F5344CB8AC3E}">
        <p14:creationId xmlns:p14="http://schemas.microsoft.com/office/powerpoint/2010/main" val="1997760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1998151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18</a:t>
            </a:fld>
            <a:endParaRPr lang="en-US"/>
          </a:p>
        </p:txBody>
      </p:sp>
    </p:spTree>
    <p:extLst>
      <p:ext uri="{BB962C8B-B14F-4D97-AF65-F5344CB8AC3E}">
        <p14:creationId xmlns:p14="http://schemas.microsoft.com/office/powerpoint/2010/main" val="3510903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19</a:t>
            </a:fld>
            <a:endParaRPr lang="en-US"/>
          </a:p>
        </p:txBody>
      </p:sp>
    </p:spTree>
    <p:extLst>
      <p:ext uri="{BB962C8B-B14F-4D97-AF65-F5344CB8AC3E}">
        <p14:creationId xmlns:p14="http://schemas.microsoft.com/office/powerpoint/2010/main" val="31561752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20</a:t>
            </a:fld>
            <a:endParaRPr lang="en-US"/>
          </a:p>
        </p:txBody>
      </p:sp>
    </p:spTree>
    <p:extLst>
      <p:ext uri="{BB962C8B-B14F-4D97-AF65-F5344CB8AC3E}">
        <p14:creationId xmlns:p14="http://schemas.microsoft.com/office/powerpoint/2010/main" val="4184962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22</a:t>
            </a:fld>
            <a:endParaRPr lang="en-US"/>
          </a:p>
        </p:txBody>
      </p:sp>
    </p:spTree>
    <p:extLst>
      <p:ext uri="{BB962C8B-B14F-4D97-AF65-F5344CB8AC3E}">
        <p14:creationId xmlns:p14="http://schemas.microsoft.com/office/powerpoint/2010/main" val="3776768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23</a:t>
            </a:fld>
            <a:endParaRPr lang="en-US"/>
          </a:p>
        </p:txBody>
      </p:sp>
    </p:spTree>
    <p:extLst>
      <p:ext uri="{BB962C8B-B14F-4D97-AF65-F5344CB8AC3E}">
        <p14:creationId xmlns:p14="http://schemas.microsoft.com/office/powerpoint/2010/main" val="5752569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6/1/2026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grpSp>
        <p:nvGrpSpPr>
          <p:cNvPr id="6" name="Group 5">
            <a:extLst>
              <a:ext uri="{FF2B5EF4-FFF2-40B4-BE49-F238E27FC236}">
                <a16:creationId xmlns:a16="http://schemas.microsoft.com/office/drawing/2014/main" id="{10947687-307D-88C1-11C1-E84905E633EC}"/>
              </a:ext>
            </a:extLst>
          </p:cNvPr>
          <p:cNvGrpSpPr/>
          <p:nvPr userDrawn="1"/>
        </p:nvGrpSpPr>
        <p:grpSpPr>
          <a:xfrm>
            <a:off x="11094856" y="6244940"/>
            <a:ext cx="1098532" cy="613059"/>
            <a:chOff x="8965342" y="4231217"/>
            <a:chExt cx="1608171" cy="897474"/>
          </a:xfrm>
        </p:grpSpPr>
        <p:pic>
          <p:nvPicPr>
            <p:cNvPr id="8" name="Graphic 7">
              <a:extLst>
                <a:ext uri="{FF2B5EF4-FFF2-40B4-BE49-F238E27FC236}">
                  <a16:creationId xmlns:a16="http://schemas.microsoft.com/office/drawing/2014/main" id="{6896C304-E085-5004-9F7A-0005B93B297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3" name="Graphic 12" hidden="1">
              <a:extLst>
                <a:ext uri="{FF2B5EF4-FFF2-40B4-BE49-F238E27FC236}">
                  <a16:creationId xmlns:a16="http://schemas.microsoft.com/office/drawing/2014/main" id="{E88B8C85-9F82-99F5-A951-7ADEA0AC21D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321121" y="4772874"/>
              <a:ext cx="897474" cy="355817"/>
            </a:xfrm>
            <a:prstGeom prst="rect">
              <a:avLst/>
            </a:prstGeom>
          </p:spPr>
        </p:pic>
        <p:pic>
          <p:nvPicPr>
            <p:cNvPr id="14" name="Graphic 13" hidden="1">
              <a:extLst>
                <a:ext uri="{FF2B5EF4-FFF2-40B4-BE49-F238E27FC236}">
                  <a16:creationId xmlns:a16="http://schemas.microsoft.com/office/drawing/2014/main" id="{31D8C76E-80DB-DAEE-FE3B-86739D7966F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9946868" y="4502045"/>
              <a:ext cx="897474" cy="355817"/>
            </a:xfrm>
            <a:prstGeom prst="rect">
              <a:avLst/>
            </a:prstGeom>
          </p:spPr>
        </p:pic>
        <p:pic>
          <p:nvPicPr>
            <p:cNvPr id="15" name="Graphic 14" hidden="1">
              <a:extLst>
                <a:ext uri="{FF2B5EF4-FFF2-40B4-BE49-F238E27FC236}">
                  <a16:creationId xmlns:a16="http://schemas.microsoft.com/office/drawing/2014/main" id="{7594B56D-A2E0-D909-0FA5-7452646EAFE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8694514" y="4502045"/>
              <a:ext cx="897474" cy="355817"/>
            </a:xfrm>
            <a:prstGeom prst="rect">
              <a:avLst/>
            </a:prstGeom>
          </p:spPr>
        </p:pic>
      </p:grpSp>
      <p:pic>
        <p:nvPicPr>
          <p:cNvPr id="16" name="Graphic 15">
            <a:extLst>
              <a:ext uri="{FF2B5EF4-FFF2-40B4-BE49-F238E27FC236}">
                <a16:creationId xmlns:a16="http://schemas.microsoft.com/office/drawing/2014/main" id="{D0484A5A-BD5C-3FAB-6E61-E8321CCD6B8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41053" y="6372101"/>
            <a:ext cx="1630680" cy="247650"/>
          </a:xfrm>
          <a:prstGeom prst="rect">
            <a:avLst/>
          </a:prstGeom>
        </p:spPr>
      </p:pic>
    </p:spTree>
    <p:extLst>
      <p:ext uri="{BB962C8B-B14F-4D97-AF65-F5344CB8AC3E}">
        <p14:creationId xmlns:p14="http://schemas.microsoft.com/office/powerpoint/2010/main" val="2828042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6/1/2026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329876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6/1/2026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22777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6/1/2026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43167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6/1/2026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87481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6/1/2026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72749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6/1/2026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03629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6/1/2026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3488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6/1/2026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45720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6/1/2026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14782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6/1/2026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8993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6/1/2026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29637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6/1/2026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19457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6/1/2026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17474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6/1/2026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18665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6/1/2026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65881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6/1/2026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880241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sv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6/1/2026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pic>
        <p:nvPicPr>
          <p:cNvPr id="9" name="Picture 8" descr="Text, logo&#10;&#10;Description automatically generated">
            <a:extLst>
              <a:ext uri="{FF2B5EF4-FFF2-40B4-BE49-F238E27FC236}">
                <a16:creationId xmlns:a16="http://schemas.microsoft.com/office/drawing/2014/main" id="{E4698EC2-17E5-DB82-3D61-F0EFAFD8B164}"/>
              </a:ext>
            </a:extLst>
          </p:cNvPr>
          <p:cNvPicPr>
            <a:picLocks noChangeAspect="1"/>
          </p:cNvPicPr>
          <p:nvPr userDrawn="1"/>
        </p:nvPicPr>
        <p:blipFill rotWithShape="1">
          <a:blip r:embed="rId21">
            <a:alphaModFix amt="5000"/>
            <a:extLst>
              <a:ext uri="{BEBA8EAE-BF5A-486C-A8C5-ECC9F3942E4B}">
                <a14:imgProps xmlns:a14="http://schemas.microsoft.com/office/drawing/2010/main">
                  <a14:imgLayer r:embed="rId22">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10" name="Rectangle 9">
            <a:extLst>
              <a:ext uri="{FF2B5EF4-FFF2-40B4-BE49-F238E27FC236}">
                <a16:creationId xmlns:a16="http://schemas.microsoft.com/office/drawing/2014/main" id="{FEFAC60C-FD4C-E9B5-B2E7-5DBEEF30CCD9}"/>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11" name="Rectangle 10">
            <a:extLst>
              <a:ext uri="{FF2B5EF4-FFF2-40B4-BE49-F238E27FC236}">
                <a16:creationId xmlns:a16="http://schemas.microsoft.com/office/drawing/2014/main" id="{AF66F6C9-FC47-516B-03AD-4863D9672159}"/>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12" name="Rectangle 11">
            <a:extLst>
              <a:ext uri="{FF2B5EF4-FFF2-40B4-BE49-F238E27FC236}">
                <a16:creationId xmlns:a16="http://schemas.microsoft.com/office/drawing/2014/main" id="{D340C73F-6765-B933-16B4-855B1120781E}"/>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22" name="Rectangle 21">
            <a:extLst>
              <a:ext uri="{FF2B5EF4-FFF2-40B4-BE49-F238E27FC236}">
                <a16:creationId xmlns:a16="http://schemas.microsoft.com/office/drawing/2014/main" id="{C7EDA348-63A4-5FE4-4239-A94EA4E2E01B}"/>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23" name="TextBox 22">
            <a:extLst>
              <a:ext uri="{FF2B5EF4-FFF2-40B4-BE49-F238E27FC236}">
                <a16:creationId xmlns:a16="http://schemas.microsoft.com/office/drawing/2014/main" id="{8EB7978B-B087-3BB8-1F0A-F6EBB95EFF1E}"/>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24" name="TextBox 23">
            <a:extLst>
              <a:ext uri="{FF2B5EF4-FFF2-40B4-BE49-F238E27FC236}">
                <a16:creationId xmlns:a16="http://schemas.microsoft.com/office/drawing/2014/main" id="{C2D14A3E-3D9E-8156-1C1C-93E30D8211B0}"/>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25" name="TextBox 24">
            <a:extLst>
              <a:ext uri="{FF2B5EF4-FFF2-40B4-BE49-F238E27FC236}">
                <a16:creationId xmlns:a16="http://schemas.microsoft.com/office/drawing/2014/main" id="{A0ACE622-7031-A267-5C7B-819F48B00582}"/>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26" name="TextBox 25">
            <a:extLst>
              <a:ext uri="{FF2B5EF4-FFF2-40B4-BE49-F238E27FC236}">
                <a16:creationId xmlns:a16="http://schemas.microsoft.com/office/drawing/2014/main" id="{24032FDB-1C0D-0135-B3B5-548E0EA5B359}"/>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27" name="Rectangle 26">
            <a:extLst>
              <a:ext uri="{FF2B5EF4-FFF2-40B4-BE49-F238E27FC236}">
                <a16:creationId xmlns:a16="http://schemas.microsoft.com/office/drawing/2014/main" id="{5AAAC68F-CF81-4C37-7A3A-3F4C26EA06AC}"/>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28" name="Rectangle 27">
            <a:extLst>
              <a:ext uri="{FF2B5EF4-FFF2-40B4-BE49-F238E27FC236}">
                <a16:creationId xmlns:a16="http://schemas.microsoft.com/office/drawing/2014/main" id="{9B52944A-F89D-F613-409D-08297B204375}"/>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29" name="Rectangle 28">
            <a:extLst>
              <a:ext uri="{FF2B5EF4-FFF2-40B4-BE49-F238E27FC236}">
                <a16:creationId xmlns:a16="http://schemas.microsoft.com/office/drawing/2014/main" id="{FC4F998C-1EC9-7DFE-03BB-14301DAFBC84}"/>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30" name="Rectangle 29">
            <a:extLst>
              <a:ext uri="{FF2B5EF4-FFF2-40B4-BE49-F238E27FC236}">
                <a16:creationId xmlns:a16="http://schemas.microsoft.com/office/drawing/2014/main" id="{D8BC60A3-4380-BC34-DCA1-0308687678ED}"/>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31" name="TextBox 30">
            <a:extLst>
              <a:ext uri="{FF2B5EF4-FFF2-40B4-BE49-F238E27FC236}">
                <a16:creationId xmlns:a16="http://schemas.microsoft.com/office/drawing/2014/main" id="{6BF179DE-A5AB-286B-A8E0-4E3808845266}"/>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32" name="TextBox 31">
            <a:extLst>
              <a:ext uri="{FF2B5EF4-FFF2-40B4-BE49-F238E27FC236}">
                <a16:creationId xmlns:a16="http://schemas.microsoft.com/office/drawing/2014/main" id="{8EB05945-1381-90CF-DFC4-EE5C881B520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33" name="TextBox 32">
            <a:extLst>
              <a:ext uri="{FF2B5EF4-FFF2-40B4-BE49-F238E27FC236}">
                <a16:creationId xmlns:a16="http://schemas.microsoft.com/office/drawing/2014/main" id="{15F63D97-DCF9-D8B9-3C1B-DAA855153AC7}"/>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34" name="TextBox 33">
            <a:extLst>
              <a:ext uri="{FF2B5EF4-FFF2-40B4-BE49-F238E27FC236}">
                <a16:creationId xmlns:a16="http://schemas.microsoft.com/office/drawing/2014/main" id="{B086F989-28C9-B3E2-279A-A25D90E6F522}"/>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35" name="Rectangle 34">
            <a:extLst>
              <a:ext uri="{FF2B5EF4-FFF2-40B4-BE49-F238E27FC236}">
                <a16:creationId xmlns:a16="http://schemas.microsoft.com/office/drawing/2014/main" id="{B0ED5AAF-FE2D-1CFF-2436-E118A36FA81E}"/>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36" name="Rectangle 35">
            <a:extLst>
              <a:ext uri="{FF2B5EF4-FFF2-40B4-BE49-F238E27FC236}">
                <a16:creationId xmlns:a16="http://schemas.microsoft.com/office/drawing/2014/main" id="{374AB7FD-4F5E-98F5-FB27-87BD8BAF5B07}"/>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37" name="Rectangle 36">
            <a:extLst>
              <a:ext uri="{FF2B5EF4-FFF2-40B4-BE49-F238E27FC236}">
                <a16:creationId xmlns:a16="http://schemas.microsoft.com/office/drawing/2014/main" id="{35AF293B-6DD4-4FBE-A040-563081E01712}"/>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38" name="Rectangle 37">
            <a:extLst>
              <a:ext uri="{FF2B5EF4-FFF2-40B4-BE49-F238E27FC236}">
                <a16:creationId xmlns:a16="http://schemas.microsoft.com/office/drawing/2014/main" id="{F641C7BF-13D0-D3CC-DC3E-9DECCC389F7F}"/>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39" name="Rectangle 38">
            <a:extLst>
              <a:ext uri="{FF2B5EF4-FFF2-40B4-BE49-F238E27FC236}">
                <a16:creationId xmlns:a16="http://schemas.microsoft.com/office/drawing/2014/main" id="{9F304469-2AAE-72EA-1ADB-8706BD480B3E}"/>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40" name="Rectangle 39">
            <a:extLst>
              <a:ext uri="{FF2B5EF4-FFF2-40B4-BE49-F238E27FC236}">
                <a16:creationId xmlns:a16="http://schemas.microsoft.com/office/drawing/2014/main" id="{EAE6379B-9484-E7A2-DDC5-28C370BAF386}"/>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41" name="TextBox 40">
            <a:extLst>
              <a:ext uri="{FF2B5EF4-FFF2-40B4-BE49-F238E27FC236}">
                <a16:creationId xmlns:a16="http://schemas.microsoft.com/office/drawing/2014/main" id="{E74CA976-B87E-E6F7-575E-8CF6CF76B93E}"/>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42" name="TextBox 41">
            <a:extLst>
              <a:ext uri="{FF2B5EF4-FFF2-40B4-BE49-F238E27FC236}">
                <a16:creationId xmlns:a16="http://schemas.microsoft.com/office/drawing/2014/main" id="{0D34BEE2-86B7-62EA-0830-A59F55A1C6AF}"/>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43" name="TextBox 42">
            <a:extLst>
              <a:ext uri="{FF2B5EF4-FFF2-40B4-BE49-F238E27FC236}">
                <a16:creationId xmlns:a16="http://schemas.microsoft.com/office/drawing/2014/main" id="{77EE50CF-03C3-B51A-D512-45D1F4E6419C}"/>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44" name="TextBox 43">
            <a:extLst>
              <a:ext uri="{FF2B5EF4-FFF2-40B4-BE49-F238E27FC236}">
                <a16:creationId xmlns:a16="http://schemas.microsoft.com/office/drawing/2014/main" id="{8776E81B-B2DA-0CE1-E06D-4861A778C5CA}"/>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45" name="Rectangle 44">
            <a:extLst>
              <a:ext uri="{FF2B5EF4-FFF2-40B4-BE49-F238E27FC236}">
                <a16:creationId xmlns:a16="http://schemas.microsoft.com/office/drawing/2014/main" id="{FDB5E032-3CFD-721F-BC3A-5B8C496C6A61}"/>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46" name="Rectangle 45">
            <a:extLst>
              <a:ext uri="{FF2B5EF4-FFF2-40B4-BE49-F238E27FC236}">
                <a16:creationId xmlns:a16="http://schemas.microsoft.com/office/drawing/2014/main" id="{613E9C5E-EE60-9366-97FB-43CE893E2AD6}"/>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47" name="Rectangle 46">
            <a:extLst>
              <a:ext uri="{FF2B5EF4-FFF2-40B4-BE49-F238E27FC236}">
                <a16:creationId xmlns:a16="http://schemas.microsoft.com/office/drawing/2014/main" id="{0BC0BC54-8A77-DCA5-5F43-8B93C636BE43}"/>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48" name="Rectangle 47">
            <a:extLst>
              <a:ext uri="{FF2B5EF4-FFF2-40B4-BE49-F238E27FC236}">
                <a16:creationId xmlns:a16="http://schemas.microsoft.com/office/drawing/2014/main" id="{15EEEB29-B0FB-207C-6C1C-7B446073FD34}"/>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9" name="Rectangle 48">
            <a:extLst>
              <a:ext uri="{FF2B5EF4-FFF2-40B4-BE49-F238E27FC236}">
                <a16:creationId xmlns:a16="http://schemas.microsoft.com/office/drawing/2014/main" id="{D4DE7F08-F58B-0A39-FE7D-59FC90023546}"/>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50" name="Rectangle 49">
            <a:extLst>
              <a:ext uri="{FF2B5EF4-FFF2-40B4-BE49-F238E27FC236}">
                <a16:creationId xmlns:a16="http://schemas.microsoft.com/office/drawing/2014/main" id="{CF779E1F-4AB3-6ED0-4D72-D8D91BE37639}"/>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51" name="Rectangle 50">
            <a:extLst>
              <a:ext uri="{FF2B5EF4-FFF2-40B4-BE49-F238E27FC236}">
                <a16:creationId xmlns:a16="http://schemas.microsoft.com/office/drawing/2014/main" id="{D56B773B-CB96-6958-F115-E9A40170B549}"/>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52" name="Rectangle 51">
            <a:extLst>
              <a:ext uri="{FF2B5EF4-FFF2-40B4-BE49-F238E27FC236}">
                <a16:creationId xmlns:a16="http://schemas.microsoft.com/office/drawing/2014/main" id="{C025A14D-0DF8-53BE-024B-BA32DCAE2051}"/>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53" name="Group 52">
            <a:extLst>
              <a:ext uri="{FF2B5EF4-FFF2-40B4-BE49-F238E27FC236}">
                <a16:creationId xmlns:a16="http://schemas.microsoft.com/office/drawing/2014/main" id="{903F1F33-92A6-0E61-B931-D9593C84C75B}"/>
              </a:ext>
            </a:extLst>
          </p:cNvPr>
          <p:cNvGrpSpPr/>
          <p:nvPr userDrawn="1"/>
        </p:nvGrpSpPr>
        <p:grpSpPr>
          <a:xfrm>
            <a:off x="11094856" y="6244940"/>
            <a:ext cx="1098532" cy="613059"/>
            <a:chOff x="8965342" y="4231217"/>
            <a:chExt cx="1608171" cy="897474"/>
          </a:xfrm>
        </p:grpSpPr>
        <p:pic>
          <p:nvPicPr>
            <p:cNvPr id="54" name="Graphic 53">
              <a:extLst>
                <a:ext uri="{FF2B5EF4-FFF2-40B4-BE49-F238E27FC236}">
                  <a16:creationId xmlns:a16="http://schemas.microsoft.com/office/drawing/2014/main" id="{D4EFECC1-6468-6DDA-1F23-09D12E4E0FF0}"/>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9321121" y="4418033"/>
              <a:ext cx="897474" cy="355817"/>
            </a:xfrm>
            <a:prstGeom prst="rect">
              <a:avLst/>
            </a:prstGeom>
          </p:spPr>
        </p:pic>
        <p:pic>
          <p:nvPicPr>
            <p:cNvPr id="55" name="Graphic 54" hidden="1">
              <a:extLst>
                <a:ext uri="{FF2B5EF4-FFF2-40B4-BE49-F238E27FC236}">
                  <a16:creationId xmlns:a16="http://schemas.microsoft.com/office/drawing/2014/main" id="{62F0CF3F-008F-DDBD-F815-05A461BD0975}"/>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9321121" y="4772874"/>
              <a:ext cx="897474" cy="355817"/>
            </a:xfrm>
            <a:prstGeom prst="rect">
              <a:avLst/>
            </a:prstGeom>
          </p:spPr>
        </p:pic>
        <p:pic>
          <p:nvPicPr>
            <p:cNvPr id="56" name="Graphic 55" hidden="1">
              <a:extLst>
                <a:ext uri="{FF2B5EF4-FFF2-40B4-BE49-F238E27FC236}">
                  <a16:creationId xmlns:a16="http://schemas.microsoft.com/office/drawing/2014/main" id="{B7F07F03-5862-73B0-0C05-BF115B9E04BE}"/>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rot="16200000">
              <a:off x="9946868" y="4502045"/>
              <a:ext cx="897474" cy="355817"/>
            </a:xfrm>
            <a:prstGeom prst="rect">
              <a:avLst/>
            </a:prstGeom>
          </p:spPr>
        </p:pic>
        <p:pic>
          <p:nvPicPr>
            <p:cNvPr id="57" name="Graphic 56" hidden="1">
              <a:extLst>
                <a:ext uri="{FF2B5EF4-FFF2-40B4-BE49-F238E27FC236}">
                  <a16:creationId xmlns:a16="http://schemas.microsoft.com/office/drawing/2014/main" id="{AEAA4865-1B08-B587-921C-17F1F3408DB2}"/>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rot="16200000">
              <a:off x="8694514" y="4502045"/>
              <a:ext cx="897474" cy="355817"/>
            </a:xfrm>
            <a:prstGeom prst="rect">
              <a:avLst/>
            </a:prstGeom>
          </p:spPr>
        </p:pic>
      </p:grpSp>
      <p:pic>
        <p:nvPicPr>
          <p:cNvPr id="58" name="Graphic 57">
            <a:extLst>
              <a:ext uri="{FF2B5EF4-FFF2-40B4-BE49-F238E27FC236}">
                <a16:creationId xmlns:a16="http://schemas.microsoft.com/office/drawing/2014/main" id="{F1E690D8-52FD-3423-D400-2845BAFAC431}"/>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241053" y="6372101"/>
            <a:ext cx="1630680" cy="247650"/>
          </a:xfrm>
          <a:prstGeom prst="rect">
            <a:avLst/>
          </a:prstGeom>
        </p:spPr>
      </p:pic>
      <p:sp>
        <p:nvSpPr>
          <p:cNvPr id="59" name="Rectangle 58" hidden="1">
            <a:extLst>
              <a:ext uri="{FF2B5EF4-FFF2-40B4-BE49-F238E27FC236}">
                <a16:creationId xmlns:a16="http://schemas.microsoft.com/office/drawing/2014/main" id="{FBBBDDD3-F67F-78AE-A36D-6FA2274040D0}"/>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194585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66" r:id="rId18"/>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7.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9.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10.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1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4.xml"/><Relationship Id="rId1" Type="http://schemas.openxmlformats.org/officeDocument/2006/relationships/tags" Target="../tags/tag14.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6.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9.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20.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21.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24.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25.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1074656"/>
            <a:ext cx="10515600" cy="249382"/>
          </a:xfrm>
        </p:spPr>
        <p:txBody>
          <a:bodyPr anchor="ctr">
            <a:noAutofit/>
          </a:bodyPr>
          <a:lstStyle/>
          <a:p>
            <a:pPr algn="ctr"/>
            <a:r>
              <a:rPr lang="en-US" b="1" dirty="0">
                <a:latin typeface="Times New Roman" panose="02020603050405020304" pitchFamily="18" charset="0"/>
                <a:cs typeface="Times New Roman" panose="02020603050405020304" pitchFamily="18" charset="0"/>
              </a:rPr>
              <a:t>Technology Trends Analysis Using Stack Overflow Developer Survey 2025</a:t>
            </a:r>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a:xfrm>
            <a:off x="1183235" y="2594074"/>
            <a:ext cx="4825158" cy="3416301"/>
          </a:xfrm>
        </p:spPr>
        <p:txBody>
          <a:bodyPr>
            <a:normAutofit/>
          </a:bodyPr>
          <a:lstStyle/>
          <a:p>
            <a:pPr marL="0" indent="0" algn="ctr">
              <a:buNone/>
            </a:pPr>
            <a:r>
              <a:rPr lang="en-US" sz="3200" dirty="0">
                <a:latin typeface="Times New Roman" panose="02020603050405020304" pitchFamily="18" charset="0"/>
                <a:cs typeface="Times New Roman" panose="02020603050405020304" pitchFamily="18" charset="0"/>
              </a:rPr>
              <a:t>Chavi Jain</a:t>
            </a:r>
          </a:p>
          <a:p>
            <a:pPr marL="0" indent="0" algn="ctr">
              <a:buNone/>
            </a:pPr>
            <a:r>
              <a:rPr lang="en-US" sz="3200" dirty="0">
                <a:latin typeface="Times New Roman" panose="02020603050405020304" pitchFamily="18" charset="0"/>
                <a:cs typeface="Times New Roman" panose="02020603050405020304" pitchFamily="18" charset="0"/>
              </a:rPr>
              <a:t>IBM Data Analyst Capstone Project</a:t>
            </a:r>
          </a:p>
          <a:p>
            <a:pPr marL="0" indent="0" algn="ctr">
              <a:buNone/>
            </a:pPr>
            <a:r>
              <a:rPr lang="en-US" sz="3200" dirty="0">
                <a:latin typeface="Times New Roman" panose="02020603050405020304" pitchFamily="18" charset="0"/>
                <a:cs typeface="Times New Roman" panose="02020603050405020304" pitchFamily="18" charset="0"/>
              </a:rPr>
              <a:t>June 2026</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4"/>
          <a:stretch>
            <a:fillRect/>
          </a:stretch>
        </p:blipFill>
        <p:spPr>
          <a:xfrm>
            <a:off x="7098385" y="2343885"/>
            <a:ext cx="4421294" cy="4012325"/>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620393" y="432542"/>
            <a:ext cx="1782757" cy="1782757"/>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1917936" y="500062"/>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pPr algn="ctr"/>
            <a:r>
              <a:rPr lang="en-US" dirty="0">
                <a:solidFill>
                  <a:schemeClr val="bg1"/>
                </a:solidFill>
                <a:latin typeface="Times New Roman" panose="02020603050405020304" pitchFamily="18" charset="0"/>
                <a:cs typeface="Times New Roman" panose="02020603050405020304" pitchFamily="18" charset="0"/>
              </a:rPr>
              <a:t>OUTLINE</a:t>
            </a:r>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1018095" y="2497236"/>
            <a:ext cx="9945277" cy="386070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Times New Roman" panose="02020603050405020304" pitchFamily="18" charset="0"/>
                <a:cs typeface="Times New Roman" panose="02020603050405020304" pitchFamily="18" charset="0"/>
              </a:rPr>
              <a:t>Executive Summary</a:t>
            </a:r>
          </a:p>
          <a:p>
            <a:r>
              <a:rPr lang="en-US" sz="2200" dirty="0">
                <a:latin typeface="Times New Roman" panose="02020603050405020304" pitchFamily="18" charset="0"/>
                <a:cs typeface="Times New Roman" panose="02020603050405020304" pitchFamily="18" charset="0"/>
              </a:rPr>
              <a:t>Introduction</a:t>
            </a:r>
          </a:p>
          <a:p>
            <a:r>
              <a:rPr lang="en-US" sz="2200" dirty="0">
                <a:latin typeface="Times New Roman" panose="02020603050405020304" pitchFamily="18" charset="0"/>
                <a:cs typeface="Times New Roman" panose="02020603050405020304" pitchFamily="18" charset="0"/>
              </a:rPr>
              <a:t>Methodology</a:t>
            </a:r>
          </a:p>
          <a:p>
            <a:r>
              <a:rPr lang="en-US" sz="2200" dirty="0">
                <a:latin typeface="Times New Roman" panose="02020603050405020304" pitchFamily="18" charset="0"/>
                <a:cs typeface="Times New Roman" panose="02020603050405020304" pitchFamily="18" charset="0"/>
              </a:rPr>
              <a:t>Results</a:t>
            </a:r>
          </a:p>
          <a:p>
            <a:pPr lvl="1"/>
            <a:r>
              <a:rPr lang="en-US" sz="1800" dirty="0">
                <a:latin typeface="Times New Roman" panose="02020603050405020304" pitchFamily="18" charset="0"/>
                <a:cs typeface="Times New Roman" panose="02020603050405020304" pitchFamily="18" charset="0"/>
              </a:rPr>
              <a:t>Visualization – Charts</a:t>
            </a:r>
          </a:p>
          <a:p>
            <a:pPr lvl="1"/>
            <a:r>
              <a:rPr lang="en-US" sz="1800" dirty="0">
                <a:latin typeface="Times New Roman" panose="02020603050405020304" pitchFamily="18" charset="0"/>
                <a:cs typeface="Times New Roman" panose="02020603050405020304" pitchFamily="18" charset="0"/>
              </a:rPr>
              <a:t>Dashboard</a:t>
            </a:r>
          </a:p>
          <a:p>
            <a:r>
              <a:rPr lang="en-US" sz="2200" dirty="0">
                <a:latin typeface="Times New Roman" panose="02020603050405020304" pitchFamily="18" charset="0"/>
                <a:cs typeface="Times New Roman" panose="02020603050405020304" pitchFamily="18" charset="0"/>
              </a:rPr>
              <a:t>Discussion</a:t>
            </a:r>
          </a:p>
          <a:p>
            <a:pPr lvl="1"/>
            <a:r>
              <a:rPr lang="en-US" sz="1800" dirty="0">
                <a:latin typeface="Times New Roman" panose="02020603050405020304" pitchFamily="18" charset="0"/>
                <a:cs typeface="Times New Roman" panose="02020603050405020304" pitchFamily="18" charset="0"/>
              </a:rPr>
              <a:t>Findings &amp; Implications</a:t>
            </a:r>
          </a:p>
          <a:p>
            <a:r>
              <a:rPr lang="en-US" sz="2200" dirty="0">
                <a:latin typeface="Times New Roman" panose="02020603050405020304" pitchFamily="18" charset="0"/>
                <a:cs typeface="Times New Roman" panose="02020603050405020304" pitchFamily="18" charset="0"/>
              </a:rPr>
              <a:t>Conclusion</a:t>
            </a:r>
          </a:p>
          <a:p>
            <a:r>
              <a:rPr lang="en-US" sz="2200" dirty="0">
                <a:latin typeface="Times New Roman" panose="02020603050405020304" pitchFamily="18" charset="0"/>
                <a:cs typeface="Times New Roman" panose="02020603050405020304" pitchFamily="18" charset="0"/>
              </a:rPr>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1704886" y="616050"/>
            <a:ext cx="8565109" cy="1325563"/>
          </a:xfrm>
        </p:spPr>
        <p:txBody>
          <a:bodyPr anchor="ct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575035" y="2281287"/>
            <a:ext cx="11434713" cy="4232635"/>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600" b="1" dirty="0">
                <a:latin typeface="Times New Roman" panose="02020603050405020304" pitchFamily="18" charset="0"/>
                <a:cs typeface="Times New Roman" panose="02020603050405020304" pitchFamily="18" charset="0"/>
              </a:rPr>
              <a:t>OBJECTIVE</a:t>
            </a:r>
          </a:p>
          <a:p>
            <a:r>
              <a:rPr lang="en-US" sz="2400" dirty="0">
                <a:latin typeface="Times New Roman" panose="02020603050405020304" pitchFamily="18" charset="0"/>
                <a:cs typeface="Times New Roman" panose="02020603050405020304" pitchFamily="18" charset="0"/>
              </a:rPr>
              <a:t>Analyze developer survey data to identify current and future technology trends.</a:t>
            </a:r>
          </a:p>
          <a:p>
            <a:endParaRPr lang="en-US" sz="2400" dirty="0">
              <a:latin typeface="Times New Roman" panose="02020603050405020304" pitchFamily="18" charset="0"/>
              <a:cs typeface="Times New Roman" panose="02020603050405020304" pitchFamily="18" charset="0"/>
            </a:endParaRPr>
          </a:p>
          <a:p>
            <a:pPr marL="0" indent="0">
              <a:buNone/>
            </a:pPr>
            <a:r>
              <a:rPr lang="en-US" sz="2600" b="1" dirty="0">
                <a:latin typeface="Times New Roman" panose="02020603050405020304" pitchFamily="18" charset="0"/>
                <a:cs typeface="Times New Roman" panose="02020603050405020304" pitchFamily="18" charset="0"/>
              </a:rPr>
              <a:t>KEY FINDINGS</a:t>
            </a:r>
          </a:p>
          <a:p>
            <a:r>
              <a:rPr lang="en-US" sz="2400" dirty="0">
                <a:latin typeface="Times New Roman" panose="02020603050405020304" pitchFamily="18" charset="0"/>
                <a:cs typeface="Times New Roman" panose="02020603050405020304" pitchFamily="18" charset="0"/>
              </a:rPr>
              <a:t>Python, JavaScript, and SQL are the most widely used programming languages. </a:t>
            </a:r>
          </a:p>
          <a:p>
            <a:r>
              <a:rPr lang="en-US" sz="2400" dirty="0">
                <a:latin typeface="Times New Roman" panose="02020603050405020304" pitchFamily="18" charset="0"/>
                <a:cs typeface="Times New Roman" panose="02020603050405020304" pitchFamily="18" charset="0"/>
              </a:rPr>
              <a:t>PostgreSQL and MySQL remain the most popular databases. </a:t>
            </a:r>
          </a:p>
          <a:p>
            <a:r>
              <a:rPr lang="en-US" sz="2400" dirty="0">
                <a:latin typeface="Times New Roman" panose="02020603050405020304" pitchFamily="18" charset="0"/>
                <a:cs typeface="Times New Roman" panose="02020603050405020304" pitchFamily="18" charset="0"/>
              </a:rPr>
              <a:t>Cloud platforms such as AWS and Azure dominate platform adoption. </a:t>
            </a:r>
          </a:p>
          <a:p>
            <a:r>
              <a:rPr lang="en-US" sz="2400" dirty="0">
                <a:latin typeface="Times New Roman" panose="02020603050405020304" pitchFamily="18" charset="0"/>
                <a:cs typeface="Times New Roman" panose="02020603050405020304" pitchFamily="18" charset="0"/>
              </a:rPr>
              <a:t>Python, PostgreSQL, and cloud technologies show strong future demand. </a:t>
            </a:r>
          </a:p>
          <a:p>
            <a:r>
              <a:rPr lang="en-US" sz="2400" dirty="0">
                <a:latin typeface="Times New Roman" panose="02020603050405020304" pitchFamily="18" charset="0"/>
                <a:cs typeface="Times New Roman" panose="02020603050405020304" pitchFamily="18" charset="0"/>
              </a:rPr>
              <a:t>Most respondents belong to the 25–44 age group. </a:t>
            </a:r>
          </a:p>
          <a:p>
            <a:endParaRPr lang="en-US" sz="2400" dirty="0">
              <a:latin typeface="Times New Roman" panose="02020603050405020304" pitchFamily="18" charset="0"/>
              <a:cs typeface="Times New Roman" panose="02020603050405020304" pitchFamily="18" charset="0"/>
            </a:endParaRPr>
          </a:p>
          <a:p>
            <a:pPr marL="0" indent="0">
              <a:buNone/>
            </a:pPr>
            <a:r>
              <a:rPr lang="en-US" sz="2600" b="1" dirty="0">
                <a:latin typeface="Times New Roman" panose="02020603050405020304" pitchFamily="18" charset="0"/>
                <a:cs typeface="Times New Roman" panose="02020603050405020304" pitchFamily="18" charset="0"/>
              </a:rPr>
              <a:t>RECOMMENDATION</a:t>
            </a:r>
          </a:p>
          <a:p>
            <a:r>
              <a:rPr lang="en-US" sz="2400" dirty="0">
                <a:latin typeface="Times New Roman" panose="02020603050405020304" pitchFamily="18" charset="0"/>
                <a:cs typeface="Times New Roman" panose="02020603050405020304" pitchFamily="18" charset="0"/>
              </a:rPr>
              <a:t>Organizations should prioritize training in:</a:t>
            </a:r>
          </a:p>
          <a:p>
            <a:r>
              <a:rPr lang="en-US" sz="2400" dirty="0">
                <a:latin typeface="Times New Roman" panose="02020603050405020304" pitchFamily="18" charset="0"/>
                <a:cs typeface="Times New Roman" panose="02020603050405020304" pitchFamily="18" charset="0"/>
              </a:rPr>
              <a:t>Python </a:t>
            </a:r>
          </a:p>
          <a:p>
            <a:r>
              <a:rPr lang="en-US" sz="2400" dirty="0">
                <a:latin typeface="Times New Roman" panose="02020603050405020304" pitchFamily="18" charset="0"/>
                <a:cs typeface="Times New Roman" panose="02020603050405020304" pitchFamily="18" charset="0"/>
              </a:rPr>
              <a:t>Cloud Computing (AWS/Azure) </a:t>
            </a:r>
          </a:p>
          <a:p>
            <a:r>
              <a:rPr lang="en-US" sz="2400" dirty="0">
                <a:latin typeface="Times New Roman" panose="02020603050405020304" pitchFamily="18" charset="0"/>
                <a:cs typeface="Times New Roman" panose="02020603050405020304" pitchFamily="18" charset="0"/>
              </a:rPr>
              <a:t>PostgreSQL </a:t>
            </a:r>
          </a:p>
          <a:p>
            <a:r>
              <a:rPr lang="en-US" sz="2400" dirty="0">
                <a:latin typeface="Times New Roman" panose="02020603050405020304" pitchFamily="18" charset="0"/>
                <a:cs typeface="Times New Roman" panose="02020603050405020304" pitchFamily="18" charset="0"/>
              </a:rPr>
              <a:t>AI-related technologies </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4"/>
          <a:stretch>
            <a:fillRect/>
          </a:stretch>
        </p:blipFill>
        <p:spPr>
          <a:xfrm>
            <a:off x="991474" y="565419"/>
            <a:ext cx="1426823" cy="1426823"/>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2272067" y="591368"/>
            <a:ext cx="7647865" cy="1325563"/>
          </a:xfrm>
        </p:spPr>
        <p:txBody>
          <a:bodyPr anchor="ctr">
            <a:normAutofit/>
          </a:bodyPr>
          <a:lstStyle/>
          <a:p>
            <a:pPr algn="ctr"/>
            <a:r>
              <a:rPr lang="en-US" b="1" dirty="0">
                <a:latin typeface="Times New Roman" panose="02020603050405020304" pitchFamily="18" charset="0"/>
                <a:cs typeface="Times New Roman" panose="02020603050405020304" pitchFamily="18" charset="0"/>
              </a:rPr>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857840" y="490579"/>
            <a:ext cx="1414227" cy="1414227"/>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857840" y="2375554"/>
            <a:ext cx="11085921" cy="389107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b="1" dirty="0">
                <a:solidFill>
                  <a:schemeClr val="tx1"/>
                </a:solidFill>
                <a:latin typeface="Times New Roman" panose="02020603050405020304" pitchFamily="18" charset="0"/>
                <a:cs typeface="Times New Roman" panose="02020603050405020304" pitchFamily="18" charset="0"/>
              </a:rPr>
              <a:t>BUSINESS PROBLEM</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Technology evolves rapidly, making it difficult for organizations and professionals to identify valuable skills.</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b="1" dirty="0">
                <a:solidFill>
                  <a:schemeClr val="tx1"/>
                </a:solidFill>
                <a:latin typeface="Times New Roman" panose="02020603050405020304" pitchFamily="18" charset="0"/>
                <a:cs typeface="Times New Roman" panose="02020603050405020304" pitchFamily="18" charset="0"/>
              </a:rPr>
              <a:t>OBJECTIVES</a:t>
            </a:r>
          </a:p>
          <a:p>
            <a:r>
              <a:rPr lang="en-US" sz="2400" dirty="0">
                <a:solidFill>
                  <a:schemeClr val="tx1"/>
                </a:solidFill>
                <a:latin typeface="Times New Roman" panose="02020603050405020304" pitchFamily="18" charset="0"/>
                <a:cs typeface="Times New Roman" panose="02020603050405020304" pitchFamily="18" charset="0"/>
              </a:rPr>
              <a:t>Identify current technology trends </a:t>
            </a:r>
          </a:p>
          <a:p>
            <a:r>
              <a:rPr lang="en-US" sz="2400" dirty="0">
                <a:solidFill>
                  <a:schemeClr val="tx1"/>
                </a:solidFill>
                <a:latin typeface="Times New Roman" panose="02020603050405020304" pitchFamily="18" charset="0"/>
                <a:cs typeface="Times New Roman" panose="02020603050405020304" pitchFamily="18" charset="0"/>
              </a:rPr>
              <a:t>Analyze future technology preferences </a:t>
            </a:r>
          </a:p>
          <a:p>
            <a:r>
              <a:rPr lang="en-US" sz="2400" dirty="0">
                <a:solidFill>
                  <a:schemeClr val="tx1"/>
                </a:solidFill>
                <a:latin typeface="Times New Roman" panose="02020603050405020304" pitchFamily="18" charset="0"/>
                <a:cs typeface="Times New Roman" panose="02020603050405020304" pitchFamily="18" charset="0"/>
              </a:rPr>
              <a:t>Examine demographic characteristics </a:t>
            </a:r>
          </a:p>
          <a:p>
            <a:r>
              <a:rPr lang="en-US" sz="2400" dirty="0">
                <a:solidFill>
                  <a:schemeClr val="tx1"/>
                </a:solidFill>
                <a:latin typeface="Times New Roman" panose="02020603050405020304" pitchFamily="18" charset="0"/>
                <a:cs typeface="Times New Roman" panose="02020603050405020304" pitchFamily="18" charset="0"/>
              </a:rPr>
              <a:t>Provide recommendations for skill development </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buNone/>
            </a:pPr>
            <a:r>
              <a:rPr lang="en-US" sz="2400" b="1" dirty="0">
                <a:solidFill>
                  <a:schemeClr val="tx1"/>
                </a:solidFill>
                <a:latin typeface="Times New Roman" panose="02020603050405020304" pitchFamily="18" charset="0"/>
                <a:cs typeface="Times New Roman" panose="02020603050405020304" pitchFamily="18" charset="0"/>
              </a:rPr>
              <a:t>RESEARCH QUESTIONS</a:t>
            </a:r>
          </a:p>
          <a:p>
            <a:r>
              <a:rPr lang="en-US" sz="2400" dirty="0">
                <a:solidFill>
                  <a:schemeClr val="tx1"/>
                </a:solidFill>
                <a:latin typeface="Times New Roman" panose="02020603050405020304" pitchFamily="18" charset="0"/>
                <a:cs typeface="Times New Roman" panose="02020603050405020304" pitchFamily="18" charset="0"/>
              </a:rPr>
              <a:t>Which programming languages are most used? </a:t>
            </a:r>
          </a:p>
          <a:p>
            <a:r>
              <a:rPr lang="en-US" sz="2400" dirty="0">
                <a:solidFill>
                  <a:schemeClr val="tx1"/>
                </a:solidFill>
                <a:latin typeface="Times New Roman" panose="02020603050405020304" pitchFamily="18" charset="0"/>
                <a:cs typeface="Times New Roman" panose="02020603050405020304" pitchFamily="18" charset="0"/>
              </a:rPr>
              <a:t>Which databases are most desired? </a:t>
            </a:r>
          </a:p>
          <a:p>
            <a:r>
              <a:rPr lang="en-US" sz="2400" dirty="0">
                <a:solidFill>
                  <a:schemeClr val="tx1"/>
                </a:solidFill>
                <a:latin typeface="Times New Roman" panose="02020603050405020304" pitchFamily="18" charset="0"/>
                <a:cs typeface="Times New Roman" panose="02020603050405020304" pitchFamily="18" charset="0"/>
              </a:rPr>
              <a:t>What technologies are expected to grow? </a:t>
            </a:r>
          </a:p>
          <a:p>
            <a:r>
              <a:rPr lang="en-US" sz="2400" dirty="0">
                <a:solidFill>
                  <a:schemeClr val="tx1"/>
                </a:solidFill>
                <a:latin typeface="Times New Roman" panose="02020603050405020304" pitchFamily="18" charset="0"/>
                <a:cs typeface="Times New Roman" panose="02020603050405020304" pitchFamily="18" charset="0"/>
              </a:rPr>
              <a:t>What demographic patterns exist?</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678358" y="826509"/>
            <a:ext cx="10571747" cy="685799"/>
          </a:xfrm>
        </p:spPr>
        <p:txBody>
          <a:bodyPr anchor="ctr">
            <a:normAutofit/>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941895" y="2302322"/>
            <a:ext cx="11133841" cy="44849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DATA SOURCE</a:t>
            </a:r>
          </a:p>
          <a:p>
            <a:pPr marL="0" indent="0">
              <a:buNone/>
            </a:pPr>
            <a:r>
              <a:rPr lang="en-US" sz="1600" dirty="0">
                <a:latin typeface="Times New Roman" panose="02020603050405020304" pitchFamily="18" charset="0"/>
                <a:cs typeface="Times New Roman" panose="02020603050405020304" pitchFamily="18" charset="0"/>
              </a:rPr>
              <a:t>Stack Overflow Developer Survey Dataset</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DATA COLLECTION</a:t>
            </a:r>
          </a:p>
          <a:p>
            <a:r>
              <a:rPr lang="en-US" sz="1600" dirty="0">
                <a:latin typeface="Times New Roman" panose="02020603050405020304" pitchFamily="18" charset="0"/>
                <a:cs typeface="Times New Roman" panose="02020603050405020304" pitchFamily="18" charset="0"/>
              </a:rPr>
              <a:t>Job API Data </a:t>
            </a:r>
          </a:p>
          <a:p>
            <a:r>
              <a:rPr lang="en-US" sz="1600" dirty="0">
                <a:latin typeface="Times New Roman" panose="02020603050405020304" pitchFamily="18" charset="0"/>
                <a:cs typeface="Times New Roman" panose="02020603050405020304" pitchFamily="18" charset="0"/>
              </a:rPr>
              <a:t>Web Scraping Data </a:t>
            </a:r>
          </a:p>
          <a:p>
            <a:r>
              <a:rPr lang="en-US" sz="1600" dirty="0">
                <a:latin typeface="Times New Roman" panose="02020603050405020304" pitchFamily="18" charset="0"/>
                <a:cs typeface="Times New Roman" panose="02020603050405020304" pitchFamily="18" charset="0"/>
              </a:rPr>
              <a:t>Survey Dataset </a:t>
            </a:r>
          </a:p>
          <a:p>
            <a:pPr lvl="1"/>
            <a:endParaRPr lang="en-US" sz="2200" dirty="0"/>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41895" y="483678"/>
            <a:ext cx="1611983" cy="1611983"/>
          </a:xfrm>
          <a:prstGeom prst="rect">
            <a:avLst/>
          </a:prstGeom>
        </p:spPr>
      </p:pic>
      <p:sp>
        <p:nvSpPr>
          <p:cNvPr id="5" name="TextBox 4">
            <a:extLst>
              <a:ext uri="{FF2B5EF4-FFF2-40B4-BE49-F238E27FC236}">
                <a16:creationId xmlns:a16="http://schemas.microsoft.com/office/drawing/2014/main" id="{61B95BB5-F9A4-5150-3970-CCE52CC641EB}"/>
              </a:ext>
            </a:extLst>
          </p:cNvPr>
          <p:cNvSpPr txBox="1"/>
          <p:nvPr/>
        </p:nvSpPr>
        <p:spPr>
          <a:xfrm>
            <a:off x="6517850" y="2302322"/>
            <a:ext cx="4732255" cy="3847207"/>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DATA WRANGLING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Missing value treatment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Duplicate removal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transformation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Normalization </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TOOLS USED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Python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Pandas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SQL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Matplotlib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SQLite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IBM Cognos Analytics</a:t>
            </a:r>
          </a:p>
          <a:p>
            <a:endParaRPr lang="en-US" dirty="0"/>
          </a:p>
        </p:txBody>
      </p:sp>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765475"/>
            <a:ext cx="10571747" cy="1091735"/>
          </a:xfrm>
        </p:spPr>
        <p:txBody>
          <a:bodyPr anchor="ctr">
            <a:normAutofit/>
          </a:bodyPr>
          <a:lstStyle/>
          <a:p>
            <a:pPr algn="ctr"/>
            <a:r>
              <a:rPr lang="en-US"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sp>
        <p:nvSpPr>
          <p:cNvPr id="8" name="TextBox 7">
            <a:extLst>
              <a:ext uri="{FF2B5EF4-FFF2-40B4-BE49-F238E27FC236}">
                <a16:creationId xmlns:a16="http://schemas.microsoft.com/office/drawing/2014/main" id="{9C6D1E5C-FB56-616C-9776-6EF59DA07045}"/>
              </a:ext>
            </a:extLst>
          </p:cNvPr>
          <p:cNvSpPr txBox="1"/>
          <p:nvPr/>
        </p:nvSpPr>
        <p:spPr>
          <a:xfrm>
            <a:off x="4643294" y="2414879"/>
            <a:ext cx="7178811" cy="4370427"/>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RESEARCH QUESTION 1: </a:t>
            </a:r>
            <a:r>
              <a:rPr lang="en-US" sz="2000" dirty="0">
                <a:latin typeface="Times New Roman" panose="02020603050405020304" pitchFamily="18" charset="0"/>
                <a:cs typeface="Times New Roman" panose="02020603050405020304" pitchFamily="18" charset="0"/>
              </a:rPr>
              <a:t>Which Programming Languages Are Most Used?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PROGRAMMING LANGUAGE TRENDS (CURRENT YEAR)</a:t>
            </a:r>
          </a:p>
          <a:p>
            <a:pPr algn="ct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INTERPRETAION:</a:t>
            </a:r>
          </a:p>
          <a:p>
            <a:endParaRPr lang="en-US"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Key Findings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JavaScript, Python, SQL, Java, and TypeScript are among the most widely used languages.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Python continues to gain popularity due to Data Science, AI, and Automation.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JavaScript remains dominant because of web development demand.</a:t>
            </a:r>
          </a:p>
          <a:p>
            <a:r>
              <a:rPr lang="en-US" dirty="0">
                <a:latin typeface="Times New Roman" panose="02020603050405020304" pitchFamily="18" charset="0"/>
                <a:cs typeface="Times New Roman" panose="02020603050405020304" pitchFamily="18" charset="0"/>
              </a:rPr>
              <a:t> </a:t>
            </a:r>
          </a:p>
          <a:p>
            <a:r>
              <a:rPr lang="en-US" sz="1600" b="1" dirty="0">
                <a:latin typeface="Times New Roman" panose="02020603050405020304" pitchFamily="18" charset="0"/>
                <a:cs typeface="Times New Roman" panose="02020603050405020304" pitchFamily="18" charset="0"/>
              </a:rPr>
              <a:t>Business Implication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Organizations should continue investing in Python and JavaScript skills because they remain highly relevant across industries.</a:t>
            </a:r>
          </a:p>
        </p:txBody>
      </p:sp>
      <p:pic>
        <p:nvPicPr>
          <p:cNvPr id="5" name="Picture 4">
            <a:extLst>
              <a:ext uri="{FF2B5EF4-FFF2-40B4-BE49-F238E27FC236}">
                <a16:creationId xmlns:a16="http://schemas.microsoft.com/office/drawing/2014/main" id="{D8F92FB5-B0B8-D906-F420-83468E68A298}"/>
              </a:ext>
            </a:extLst>
          </p:cNvPr>
          <p:cNvPicPr>
            <a:picLocks noChangeAspect="1"/>
          </p:cNvPicPr>
          <p:nvPr/>
        </p:nvPicPr>
        <p:blipFill>
          <a:blip r:embed="rId4"/>
          <a:stretch>
            <a:fillRect/>
          </a:stretch>
        </p:blipFill>
        <p:spPr>
          <a:xfrm>
            <a:off x="0" y="2998532"/>
            <a:ext cx="4603106" cy="2732965"/>
          </a:xfrm>
          <a:prstGeom prst="rect">
            <a:avLst/>
          </a:prstGeom>
        </p:spPr>
      </p:pic>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2C410-FA16-6BD5-29E4-248BD1460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37326-0ED9-F9AB-794E-113802BCED19}"/>
              </a:ext>
            </a:extLst>
          </p:cNvPr>
          <p:cNvSpPr>
            <a:spLocks noGrp="1"/>
          </p:cNvSpPr>
          <p:nvPr>
            <p:ph type="title"/>
          </p:nvPr>
        </p:nvSpPr>
        <p:spPr>
          <a:xfrm>
            <a:off x="782053" y="765475"/>
            <a:ext cx="10571747" cy="1091735"/>
          </a:xfrm>
        </p:spPr>
        <p:txBody>
          <a:bodyPr anchor="ctr">
            <a:normAutofit/>
          </a:bodyPr>
          <a:lstStyle/>
          <a:p>
            <a:pPr algn="ctr"/>
            <a:r>
              <a:rPr lang="en-US"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19AE9643-BFAC-B963-AA46-51735380FAB3}"/>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sp>
        <p:nvSpPr>
          <p:cNvPr id="8" name="TextBox 7">
            <a:extLst>
              <a:ext uri="{FF2B5EF4-FFF2-40B4-BE49-F238E27FC236}">
                <a16:creationId xmlns:a16="http://schemas.microsoft.com/office/drawing/2014/main" id="{99A63865-7404-4638-0105-83015D3B8813}"/>
              </a:ext>
            </a:extLst>
          </p:cNvPr>
          <p:cNvSpPr txBox="1"/>
          <p:nvPr/>
        </p:nvSpPr>
        <p:spPr>
          <a:xfrm>
            <a:off x="4285075" y="2771888"/>
            <a:ext cx="7617750" cy="3785652"/>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RESEARCH QUESTION 2: </a:t>
            </a:r>
            <a:r>
              <a:rPr lang="en-US" sz="2000" dirty="0">
                <a:latin typeface="Times New Roman" panose="02020603050405020304" pitchFamily="18" charset="0"/>
                <a:cs typeface="Times New Roman" panose="02020603050405020304" pitchFamily="18" charset="0"/>
              </a:rPr>
              <a:t>Which Databases Are Most Desired?</a:t>
            </a:r>
          </a:p>
          <a:p>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DATABASE TRENDS (FUTURE YEAR)</a:t>
            </a:r>
          </a:p>
          <a:p>
            <a:pPr algn="ct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INTERPRETAION:</a:t>
            </a:r>
          </a:p>
          <a:p>
            <a:endParaRPr lang="en-US"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Key Findings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PostgreSQL appears as the most desired database.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MongoDB and Redis show increasing popularity.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Developers prefer modern databases that support scalability and cloud environments.</a:t>
            </a:r>
          </a:p>
          <a:p>
            <a:endParaRPr lang="en-US"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Business Implication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Companies should prioritize PostgreSQL and modern database technologies in training programs.</a:t>
            </a:r>
          </a:p>
        </p:txBody>
      </p:sp>
      <p:pic>
        <p:nvPicPr>
          <p:cNvPr id="9" name="Picture 8">
            <a:extLst>
              <a:ext uri="{FF2B5EF4-FFF2-40B4-BE49-F238E27FC236}">
                <a16:creationId xmlns:a16="http://schemas.microsoft.com/office/drawing/2014/main" id="{3F285CB3-17D8-8A9D-2A7E-5EFC7BD590CE}"/>
              </a:ext>
            </a:extLst>
          </p:cNvPr>
          <p:cNvPicPr>
            <a:picLocks noChangeAspect="1"/>
          </p:cNvPicPr>
          <p:nvPr/>
        </p:nvPicPr>
        <p:blipFill>
          <a:blip r:embed="rId4"/>
          <a:stretch>
            <a:fillRect/>
          </a:stretch>
        </p:blipFill>
        <p:spPr>
          <a:xfrm>
            <a:off x="146709" y="2438056"/>
            <a:ext cx="3953952" cy="3656166"/>
          </a:xfrm>
          <a:prstGeom prst="rect">
            <a:avLst/>
          </a:prstGeom>
        </p:spPr>
      </p:pic>
    </p:spTree>
    <p:custDataLst>
      <p:tags r:id="rId1"/>
    </p:custDataLst>
    <p:extLst>
      <p:ext uri="{BB962C8B-B14F-4D97-AF65-F5344CB8AC3E}">
        <p14:creationId xmlns:p14="http://schemas.microsoft.com/office/powerpoint/2010/main" val="2140731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EC354-A7E0-1308-8C38-50EA66B12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740B0-3AA0-F991-2136-9927AADCC201}"/>
              </a:ext>
            </a:extLst>
          </p:cNvPr>
          <p:cNvSpPr>
            <a:spLocks noGrp="1"/>
          </p:cNvSpPr>
          <p:nvPr>
            <p:ph type="title"/>
          </p:nvPr>
        </p:nvSpPr>
        <p:spPr>
          <a:xfrm>
            <a:off x="782053" y="765475"/>
            <a:ext cx="10571747" cy="1091735"/>
          </a:xfrm>
        </p:spPr>
        <p:txBody>
          <a:bodyPr anchor="ctr">
            <a:normAutofit/>
          </a:bodyPr>
          <a:lstStyle/>
          <a:p>
            <a:pPr algn="ctr"/>
            <a:r>
              <a:rPr lang="en-US"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97ED3F9D-B7BF-2737-1251-EDACBBC8D903}"/>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sp>
        <p:nvSpPr>
          <p:cNvPr id="8" name="TextBox 7">
            <a:extLst>
              <a:ext uri="{FF2B5EF4-FFF2-40B4-BE49-F238E27FC236}">
                <a16:creationId xmlns:a16="http://schemas.microsoft.com/office/drawing/2014/main" id="{A63F9D30-02D6-FEE2-F1D1-29F58D251124}"/>
              </a:ext>
            </a:extLst>
          </p:cNvPr>
          <p:cNvSpPr txBox="1"/>
          <p:nvPr/>
        </p:nvSpPr>
        <p:spPr>
          <a:xfrm>
            <a:off x="5043340" y="2311379"/>
            <a:ext cx="7148660" cy="4431983"/>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RESEARCH QUESTION 3: </a:t>
            </a:r>
            <a:r>
              <a:rPr lang="en-US" dirty="0">
                <a:latin typeface="Times New Roman" panose="02020603050405020304" pitchFamily="18" charset="0"/>
                <a:cs typeface="Times New Roman" panose="02020603050405020304" pitchFamily="18" charset="0"/>
              </a:rPr>
              <a:t>What Technologies Are Expected To Grow?</a:t>
            </a:r>
          </a:p>
          <a:p>
            <a:endParaRPr lang="en-US" dirty="0">
              <a:latin typeface="Times New Roman" panose="02020603050405020304" pitchFamily="18" charset="0"/>
              <a:cs typeface="Times New Roman" panose="02020603050405020304" pitchFamily="18" charset="0"/>
            </a:endParaRPr>
          </a:p>
          <a:p>
            <a:pPr algn="ctr"/>
            <a:r>
              <a:rPr lang="en-US" sz="1600" b="1" dirty="0">
                <a:latin typeface="Times New Roman" panose="02020603050405020304" pitchFamily="18" charset="0"/>
                <a:cs typeface="Times New Roman" panose="02020603050405020304" pitchFamily="18" charset="0"/>
              </a:rPr>
              <a:t>FUTURE TECHNOLOGY USED</a:t>
            </a:r>
          </a:p>
          <a:p>
            <a:r>
              <a:rPr lang="en-US" sz="1600" b="1" dirty="0">
                <a:latin typeface="Times New Roman" panose="02020603050405020304" pitchFamily="18" charset="0"/>
                <a:cs typeface="Times New Roman" panose="02020603050405020304" pitchFamily="18" charset="0"/>
              </a:rPr>
              <a:t>INTERPRETAION:</a:t>
            </a:r>
          </a:p>
          <a:p>
            <a:r>
              <a:rPr lang="en-US" sz="1400" b="1" dirty="0">
                <a:latin typeface="Times New Roman" panose="02020603050405020304" pitchFamily="18" charset="0"/>
                <a:cs typeface="Times New Roman" panose="02020603050405020304" pitchFamily="18" charset="0"/>
              </a:rPr>
              <a:t>Expected Growth Areas</a:t>
            </a:r>
            <a:endParaRPr lang="en-US" sz="14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Python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PostgreSQL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AWS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Azure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AI Tools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Cloud Technologies </a:t>
            </a:r>
          </a:p>
          <a:p>
            <a:endParaRPr lang="en-US" sz="12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Why?</a:t>
            </a:r>
            <a:endParaRPr lang="en-US" sz="14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Developers show strong interest in these technologies for future learning and career development</a:t>
            </a:r>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Business Implication</a:t>
            </a:r>
            <a:endParaRPr lang="en-US" sz="14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Organizations should align workforce development with:</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AI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Cloud Computing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Data Engineering </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Python Ecosystem</a:t>
            </a:r>
          </a:p>
        </p:txBody>
      </p:sp>
      <p:pic>
        <p:nvPicPr>
          <p:cNvPr id="5" name="Picture 4">
            <a:extLst>
              <a:ext uri="{FF2B5EF4-FFF2-40B4-BE49-F238E27FC236}">
                <a16:creationId xmlns:a16="http://schemas.microsoft.com/office/drawing/2014/main" id="{A6C2086B-C3E4-7657-6A48-1D2E7C3A53CC}"/>
              </a:ext>
            </a:extLst>
          </p:cNvPr>
          <p:cNvPicPr>
            <a:picLocks noChangeAspect="1"/>
          </p:cNvPicPr>
          <p:nvPr/>
        </p:nvPicPr>
        <p:blipFill>
          <a:blip r:embed="rId4"/>
          <a:stretch>
            <a:fillRect/>
          </a:stretch>
        </p:blipFill>
        <p:spPr>
          <a:xfrm>
            <a:off x="122548" y="2311379"/>
            <a:ext cx="4920792" cy="2280949"/>
          </a:xfrm>
          <a:prstGeom prst="rect">
            <a:avLst/>
          </a:prstGeom>
        </p:spPr>
      </p:pic>
      <p:pic>
        <p:nvPicPr>
          <p:cNvPr id="7" name="Picture 6">
            <a:extLst>
              <a:ext uri="{FF2B5EF4-FFF2-40B4-BE49-F238E27FC236}">
                <a16:creationId xmlns:a16="http://schemas.microsoft.com/office/drawing/2014/main" id="{2D251B95-BB64-1491-02BD-2EDCE8CCD93D}"/>
              </a:ext>
            </a:extLst>
          </p:cNvPr>
          <p:cNvPicPr>
            <a:picLocks noChangeAspect="1"/>
          </p:cNvPicPr>
          <p:nvPr/>
        </p:nvPicPr>
        <p:blipFill>
          <a:blip r:embed="rId5"/>
          <a:stretch>
            <a:fillRect/>
          </a:stretch>
        </p:blipFill>
        <p:spPr>
          <a:xfrm>
            <a:off x="122548" y="4838851"/>
            <a:ext cx="4920792" cy="1822899"/>
          </a:xfrm>
          <a:prstGeom prst="rect">
            <a:avLst/>
          </a:prstGeom>
        </p:spPr>
      </p:pic>
    </p:spTree>
    <p:custDataLst>
      <p:tags r:id="rId1"/>
    </p:custDataLst>
    <p:extLst>
      <p:ext uri="{BB962C8B-B14F-4D97-AF65-F5344CB8AC3E}">
        <p14:creationId xmlns:p14="http://schemas.microsoft.com/office/powerpoint/2010/main" val="2482981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E3D98-ED6D-4158-6E07-59E5BC2FF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8BD12-E302-1561-F72A-F8CF3D95AC75}"/>
              </a:ext>
            </a:extLst>
          </p:cNvPr>
          <p:cNvSpPr>
            <a:spLocks noGrp="1"/>
          </p:cNvSpPr>
          <p:nvPr>
            <p:ph type="title"/>
          </p:nvPr>
        </p:nvSpPr>
        <p:spPr>
          <a:xfrm>
            <a:off x="782053" y="765475"/>
            <a:ext cx="10571747" cy="1091735"/>
          </a:xfrm>
        </p:spPr>
        <p:txBody>
          <a:bodyPr anchor="ctr">
            <a:normAutofit/>
          </a:bodyPr>
          <a:lstStyle/>
          <a:p>
            <a:pPr algn="ctr"/>
            <a:r>
              <a:rPr lang="en-US"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6052E315-3AAC-56DE-C760-7B56271F5172}"/>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sp>
        <p:nvSpPr>
          <p:cNvPr id="8" name="TextBox 7">
            <a:extLst>
              <a:ext uri="{FF2B5EF4-FFF2-40B4-BE49-F238E27FC236}">
                <a16:creationId xmlns:a16="http://schemas.microsoft.com/office/drawing/2014/main" id="{3C0ED3EA-EC3C-757B-0359-FB457AA9B110}"/>
              </a:ext>
            </a:extLst>
          </p:cNvPr>
          <p:cNvSpPr txBox="1"/>
          <p:nvPr/>
        </p:nvSpPr>
        <p:spPr>
          <a:xfrm>
            <a:off x="6467887" y="2296164"/>
            <a:ext cx="5381605" cy="4585871"/>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RESEARCH QUESTION 4: </a:t>
            </a:r>
            <a:r>
              <a:rPr lang="en-US" sz="1600" dirty="0">
                <a:latin typeface="Times New Roman" panose="02020603050405020304" pitchFamily="18" charset="0"/>
                <a:cs typeface="Times New Roman" panose="02020603050405020304" pitchFamily="18" charset="0"/>
              </a:rPr>
              <a:t>What Demographic Patterns Exist? </a:t>
            </a:r>
          </a:p>
          <a:p>
            <a:pPr algn="ctr"/>
            <a:r>
              <a:rPr lang="en-US" sz="1400" b="1" dirty="0">
                <a:latin typeface="Times New Roman" panose="02020603050405020304" pitchFamily="18" charset="0"/>
                <a:cs typeface="Times New Roman" panose="02020603050405020304" pitchFamily="18" charset="0"/>
              </a:rPr>
              <a:t>INTERPRETATION:</a:t>
            </a:r>
            <a:endParaRPr lang="en-US" sz="16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Age Distribution</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Most respondents are between 25 and 44 years old.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survey is dominated by early and mid-career professionals.</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Geographic Distribution</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United States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India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Germany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United Kingdom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represent the largest respondent groups.</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Professional Background</a:t>
            </a:r>
            <a:endParaRPr lang="en-US" sz="16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Most respondents identify as: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Professional Developers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Full-time Employees </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Business Implication</a:t>
            </a:r>
            <a:endParaRPr lang="en-US" sz="16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survey insights primarily reflect the perspectives of active software professionals working in established technology markets.</a:t>
            </a:r>
          </a:p>
          <a:p>
            <a:endParaRPr lang="en-US"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FA1A7C9-FFEB-A132-8350-891162FD9079}"/>
              </a:ext>
            </a:extLst>
          </p:cNvPr>
          <p:cNvPicPr>
            <a:picLocks noChangeAspect="1"/>
          </p:cNvPicPr>
          <p:nvPr/>
        </p:nvPicPr>
        <p:blipFill>
          <a:blip r:embed="rId4"/>
          <a:stretch>
            <a:fillRect/>
          </a:stretch>
        </p:blipFill>
        <p:spPr>
          <a:xfrm>
            <a:off x="2720369" y="2437297"/>
            <a:ext cx="3581813" cy="2325616"/>
          </a:xfrm>
          <a:prstGeom prst="rect">
            <a:avLst/>
          </a:prstGeom>
        </p:spPr>
      </p:pic>
      <p:pic>
        <p:nvPicPr>
          <p:cNvPr id="7" name="Picture 6">
            <a:extLst>
              <a:ext uri="{FF2B5EF4-FFF2-40B4-BE49-F238E27FC236}">
                <a16:creationId xmlns:a16="http://schemas.microsoft.com/office/drawing/2014/main" id="{F9DDD8BD-4971-A20E-7BC1-CC0361DE82E8}"/>
              </a:ext>
            </a:extLst>
          </p:cNvPr>
          <p:cNvPicPr>
            <a:picLocks noChangeAspect="1"/>
          </p:cNvPicPr>
          <p:nvPr/>
        </p:nvPicPr>
        <p:blipFill>
          <a:blip r:embed="rId5"/>
          <a:stretch>
            <a:fillRect/>
          </a:stretch>
        </p:blipFill>
        <p:spPr>
          <a:xfrm>
            <a:off x="216816" y="2437297"/>
            <a:ext cx="2356701" cy="1983406"/>
          </a:xfrm>
          <a:prstGeom prst="rect">
            <a:avLst/>
          </a:prstGeom>
        </p:spPr>
      </p:pic>
      <p:pic>
        <p:nvPicPr>
          <p:cNvPr id="11" name="Picture 10">
            <a:extLst>
              <a:ext uri="{FF2B5EF4-FFF2-40B4-BE49-F238E27FC236}">
                <a16:creationId xmlns:a16="http://schemas.microsoft.com/office/drawing/2014/main" id="{94E16D3D-E3A5-C8B5-81C6-46D2DCC3DDAF}"/>
              </a:ext>
            </a:extLst>
          </p:cNvPr>
          <p:cNvPicPr>
            <a:picLocks noChangeAspect="1"/>
          </p:cNvPicPr>
          <p:nvPr/>
        </p:nvPicPr>
        <p:blipFill>
          <a:blip r:embed="rId6"/>
          <a:stretch>
            <a:fillRect/>
          </a:stretch>
        </p:blipFill>
        <p:spPr>
          <a:xfrm>
            <a:off x="110692" y="4755294"/>
            <a:ext cx="6191490" cy="1760064"/>
          </a:xfrm>
          <a:prstGeom prst="rect">
            <a:avLst/>
          </a:prstGeom>
        </p:spPr>
      </p:pic>
    </p:spTree>
    <p:custDataLst>
      <p:tags r:id="rId1"/>
    </p:custDataLst>
    <p:extLst>
      <p:ext uri="{BB962C8B-B14F-4D97-AF65-F5344CB8AC3E}">
        <p14:creationId xmlns:p14="http://schemas.microsoft.com/office/powerpoint/2010/main" val="1901786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3179272" y="581014"/>
            <a:ext cx="5833456" cy="1325563"/>
          </a:xfrm>
        </p:spPr>
        <p:txBody>
          <a:bodyPr anchor="ctr">
            <a:normAutofit/>
          </a:bodyPr>
          <a:lstStyle/>
          <a:p>
            <a:pPr algn="ctr"/>
            <a:r>
              <a:rPr lang="en-US" b="1" dirty="0">
                <a:latin typeface="Times New Roman" panose="02020603050405020304" pitchFamily="18" charset="0"/>
                <a:cs typeface="Times New Roman" panose="02020603050405020304" pitchFamily="18" charset="0"/>
              </a:rPr>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4524866" y="2290713"/>
            <a:ext cx="7598004" cy="4468306"/>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3500" b="1" dirty="0">
                <a:latin typeface="Times New Roman" panose="02020603050405020304" pitchFamily="18" charset="0"/>
                <a:cs typeface="Times New Roman" panose="02020603050405020304" pitchFamily="18" charset="0"/>
              </a:rPr>
              <a:t>OBJECTIVE</a:t>
            </a:r>
          </a:p>
          <a:p>
            <a:pPr marL="0" indent="0" defTabSz="457200">
              <a:buNone/>
            </a:pPr>
            <a:r>
              <a:rPr lang="en-US" sz="3000" dirty="0">
                <a:solidFill>
                  <a:schemeClr val="tx1"/>
                </a:solidFill>
                <a:latin typeface="Times New Roman" panose="02020603050405020304" pitchFamily="18" charset="0"/>
                <a:cs typeface="Times New Roman" panose="02020603050405020304" pitchFamily="18" charset="0"/>
              </a:rPr>
              <a:t>Analyze the geographic distribution of job opportunities using data collected from the Job Posting API.</a:t>
            </a:r>
          </a:p>
          <a:p>
            <a:pPr marL="285750" indent="-285750" defTabSz="457200">
              <a:buFont typeface="Arial" panose="020B0604020202020204" pitchFamily="34" charset="0"/>
              <a:buChar char="•"/>
            </a:pPr>
            <a:endParaRPr lang="en-US" sz="2500" dirty="0">
              <a:solidFill>
                <a:schemeClr val="tx1"/>
              </a:solidFill>
              <a:latin typeface="Times New Roman" panose="02020603050405020304" pitchFamily="18" charset="0"/>
              <a:cs typeface="Times New Roman" panose="02020603050405020304" pitchFamily="18" charset="0"/>
            </a:endParaRPr>
          </a:p>
          <a:p>
            <a:pPr marL="0" indent="0">
              <a:buNone/>
            </a:pPr>
            <a:r>
              <a:rPr lang="en-US" sz="3500" b="1" dirty="0">
                <a:latin typeface="Times New Roman" panose="02020603050405020304" pitchFamily="18" charset="0"/>
                <a:cs typeface="Times New Roman" panose="02020603050405020304" pitchFamily="18" charset="0"/>
              </a:rPr>
              <a:t>KEY FINDINGS</a:t>
            </a:r>
          </a:p>
          <a:p>
            <a:pPr marL="285750" indent="-285750" defTabSz="457200">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Washington DC recorded the highest number of job postings among the analyzed locations. </a:t>
            </a:r>
          </a:p>
          <a:p>
            <a:pPr marL="285750" indent="-285750" defTabSz="457200">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Seattle and New York also showed strong demand, indicating active technology and business job markets. </a:t>
            </a:r>
          </a:p>
          <a:p>
            <a:pPr marL="285750" indent="-285750" defTabSz="457200">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Los Angeles and San Francisco had comparatively fewer postings in this dataset. </a:t>
            </a:r>
          </a:p>
          <a:p>
            <a:pPr marL="285750" indent="-285750" defTabSz="457200">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Job opportunities are concentrated in major metropolitan and economic centers.</a:t>
            </a:r>
            <a:r>
              <a:rPr lang="en-US" sz="2500" dirty="0">
                <a:solidFill>
                  <a:schemeClr val="tx1"/>
                </a:solidFill>
                <a:latin typeface="Times New Roman" panose="02020603050405020304" pitchFamily="18" charset="0"/>
                <a:cs typeface="Times New Roman" panose="02020603050405020304" pitchFamily="18" charset="0"/>
              </a:rPr>
              <a:t> </a:t>
            </a:r>
          </a:p>
          <a:p>
            <a:pPr marL="0" indent="0" defTabSz="457200">
              <a:buNone/>
            </a:pPr>
            <a:endParaRPr lang="en-US" sz="2500" dirty="0">
              <a:solidFill>
                <a:schemeClr val="tx1"/>
              </a:solidFill>
              <a:latin typeface="Times New Roman" panose="02020603050405020304" pitchFamily="18" charset="0"/>
              <a:cs typeface="Times New Roman" panose="02020603050405020304" pitchFamily="18" charset="0"/>
            </a:endParaRPr>
          </a:p>
          <a:p>
            <a:pPr marL="0" indent="0">
              <a:buNone/>
            </a:pPr>
            <a:r>
              <a:rPr lang="en-US" sz="3500" b="1" dirty="0">
                <a:latin typeface="Times New Roman" panose="02020603050405020304" pitchFamily="18" charset="0"/>
                <a:cs typeface="Times New Roman" panose="02020603050405020304" pitchFamily="18" charset="0"/>
              </a:rPr>
              <a:t>INTERPREATION</a:t>
            </a:r>
          </a:p>
          <a:p>
            <a:pPr marL="0" indent="0" defTabSz="457200">
              <a:buNone/>
            </a:pPr>
            <a:r>
              <a:rPr lang="en-US" sz="3000" dirty="0">
                <a:solidFill>
                  <a:schemeClr val="tx1"/>
                </a:solidFill>
                <a:latin typeface="Times New Roman" panose="02020603050405020304" pitchFamily="18" charset="0"/>
                <a:cs typeface="Times New Roman" panose="02020603050405020304" pitchFamily="18" charset="0"/>
              </a:rPr>
              <a:t>The analysis reveals that job demand is not evenly distributed across locations. Cities such as Washington DC, Seattle, and New York offer significantly more employment opportunities, making them attractive markets for technology professionals. This concentration suggests that organizations in these regions continue to invest heavily in technical talent.</a:t>
            </a:r>
          </a:p>
          <a:p>
            <a:pPr marL="0" indent="0" defTabSz="457200">
              <a:buNone/>
            </a:pPr>
            <a:endParaRPr lang="en-US" sz="2500" dirty="0">
              <a:solidFill>
                <a:schemeClr val="tx1"/>
              </a:solidFill>
              <a:latin typeface="Times New Roman" panose="02020603050405020304" pitchFamily="18" charset="0"/>
              <a:cs typeface="Times New Roman" panose="02020603050405020304" pitchFamily="18" charset="0"/>
            </a:endParaRPr>
          </a:p>
          <a:p>
            <a:pPr marL="0" indent="0">
              <a:buNone/>
            </a:pPr>
            <a:r>
              <a:rPr lang="en-US" sz="3500" b="1" dirty="0">
                <a:latin typeface="Times New Roman" panose="02020603050405020304" pitchFamily="18" charset="0"/>
                <a:cs typeface="Times New Roman" panose="02020603050405020304" pitchFamily="18" charset="0"/>
              </a:rPr>
              <a:t>BUSINESS IMPLICATION</a:t>
            </a:r>
          </a:p>
          <a:p>
            <a:pPr marL="285750" indent="-285750" defTabSz="457200">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Professionals seeking employment may find more opportunities in high-demand locations. </a:t>
            </a:r>
          </a:p>
          <a:p>
            <a:pPr marL="285750" indent="-285750" defTabSz="457200">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Organizations can use regional hiring trends to guide recruitment and workforce planning. </a:t>
            </a:r>
          </a:p>
          <a:p>
            <a:pPr marL="285750" indent="-285750" defTabSz="457200">
              <a:buFont typeface="Arial" panose="020B0604020202020204" pitchFamily="34" charset="0"/>
              <a:buChar char="•"/>
            </a:pPr>
            <a:r>
              <a:rPr lang="en-US" sz="3000" dirty="0">
                <a:solidFill>
                  <a:schemeClr val="tx1"/>
                </a:solidFill>
                <a:latin typeface="Times New Roman" panose="02020603050405020304" pitchFamily="18" charset="0"/>
                <a:cs typeface="Times New Roman" panose="02020603050405020304" pitchFamily="18" charset="0"/>
              </a:rPr>
              <a:t>Geographic job demand can help identify emerging employment hubs and inform relocation or expansion decisions. </a:t>
            </a:r>
          </a:p>
        </p:txBody>
      </p:sp>
      <p:pic>
        <p:nvPicPr>
          <p:cNvPr id="3" name="Picture 2">
            <a:extLst>
              <a:ext uri="{FF2B5EF4-FFF2-40B4-BE49-F238E27FC236}">
                <a16:creationId xmlns:a16="http://schemas.microsoft.com/office/drawing/2014/main" id="{46568847-1F16-B993-9EAF-0F91CF0FC621}"/>
              </a:ext>
            </a:extLst>
          </p:cNvPr>
          <p:cNvPicPr>
            <a:picLocks noChangeAspect="1"/>
          </p:cNvPicPr>
          <p:nvPr/>
        </p:nvPicPr>
        <p:blipFill>
          <a:blip r:embed="rId4"/>
          <a:stretch>
            <a:fillRect/>
          </a:stretch>
        </p:blipFill>
        <p:spPr>
          <a:xfrm>
            <a:off x="0" y="3263624"/>
            <a:ext cx="4438295" cy="2522484"/>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3241617" y="674016"/>
            <a:ext cx="5708765" cy="1325563"/>
          </a:xfrm>
        </p:spPr>
        <p:txBody>
          <a:bodyPr anchor="ctr">
            <a:normAutofit/>
          </a:bodyPr>
          <a:lstStyle/>
          <a:p>
            <a:pPr algn="ctr"/>
            <a:r>
              <a:rPr lang="en-US" b="1" dirty="0">
                <a:latin typeface="Times New Roman" panose="02020603050405020304" pitchFamily="18" charset="0"/>
                <a:cs typeface="Times New Roman" panose="02020603050405020304" pitchFamily="18" charset="0"/>
              </a:rPr>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4595360" y="2309567"/>
            <a:ext cx="7423815" cy="45484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600" b="1" dirty="0">
                <a:latin typeface="Times New Roman" panose="02020603050405020304" pitchFamily="18" charset="0"/>
                <a:cs typeface="Times New Roman" panose="02020603050405020304" pitchFamily="18" charset="0"/>
              </a:rPr>
              <a:t>KEY FINDINGS</a:t>
            </a:r>
          </a:p>
          <a:p>
            <a:r>
              <a:rPr lang="en-US" sz="1400" b="1" dirty="0">
                <a:latin typeface="Times New Roman" panose="02020603050405020304" pitchFamily="18" charset="0"/>
                <a:cs typeface="Times New Roman" panose="02020603050405020304" pitchFamily="18" charset="0"/>
              </a:rPr>
              <a:t>Swift</a:t>
            </a:r>
            <a:r>
              <a:rPr lang="en-US" sz="1400" dirty="0">
                <a:latin typeface="Times New Roman" panose="02020603050405020304" pitchFamily="18" charset="0"/>
                <a:cs typeface="Times New Roman" panose="02020603050405020304" pitchFamily="18" charset="0"/>
              </a:rPr>
              <a:t> has the highest average annual salary among the analyzed languages. </a:t>
            </a:r>
          </a:p>
          <a:p>
            <a:r>
              <a:rPr lang="en-US" sz="1400" b="1" dirty="0">
                <a:latin typeface="Times New Roman" panose="02020603050405020304" pitchFamily="18" charset="0"/>
                <a:cs typeface="Times New Roman" panose="02020603050405020304" pitchFamily="18" charset="0"/>
              </a:rPr>
              <a:t>Python</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JavaScript</a:t>
            </a:r>
            <a:r>
              <a:rPr lang="en-US" sz="1400" dirty="0">
                <a:latin typeface="Times New Roman" panose="02020603050405020304" pitchFamily="18" charset="0"/>
                <a:cs typeface="Times New Roman" panose="02020603050405020304" pitchFamily="18" charset="0"/>
              </a:rPr>
              <a:t> also offer competitive salaries, reflecting their strong industry demand. </a:t>
            </a:r>
          </a:p>
          <a:p>
            <a:r>
              <a:rPr lang="en-US" sz="1400" b="1" dirty="0">
                <a:latin typeface="Times New Roman" panose="02020603050405020304" pitchFamily="18" charset="0"/>
                <a:cs typeface="Times New Roman" panose="02020603050405020304" pitchFamily="18" charset="0"/>
              </a:rPr>
              <a:t>Java</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R</a:t>
            </a:r>
            <a:r>
              <a:rPr lang="en-US" sz="1400" dirty="0">
                <a:latin typeface="Times New Roman" panose="02020603050405020304" pitchFamily="18" charset="0"/>
                <a:cs typeface="Times New Roman" panose="02020603050405020304" pitchFamily="18" charset="0"/>
              </a:rPr>
              <a:t> remain valuable skills with solid compensation levels. </a:t>
            </a:r>
          </a:p>
          <a:p>
            <a:r>
              <a:rPr lang="en-US" sz="1400" dirty="0">
                <a:latin typeface="Times New Roman" panose="02020603050405020304" pitchFamily="18" charset="0"/>
                <a:cs typeface="Times New Roman" panose="02020603050405020304" pitchFamily="18" charset="0"/>
              </a:rPr>
              <a:t>Salary differences suggest varying market demand and specialization requirements across technologies. </a:t>
            </a:r>
          </a:p>
          <a:p>
            <a:pPr marL="0" indent="0">
              <a:buNone/>
            </a:pPr>
            <a:r>
              <a:rPr lang="en-US" sz="1600" b="1" dirty="0">
                <a:latin typeface="Times New Roman" panose="02020603050405020304" pitchFamily="18" charset="0"/>
                <a:cs typeface="Times New Roman" panose="02020603050405020304" pitchFamily="18" charset="0"/>
              </a:rPr>
              <a:t>INTERPRETATION</a:t>
            </a:r>
          </a:p>
          <a:p>
            <a:pPr marL="0" indent="0">
              <a:buNone/>
            </a:pPr>
            <a:r>
              <a:rPr lang="en-US" sz="1400" dirty="0">
                <a:latin typeface="Times New Roman" panose="02020603050405020304" pitchFamily="18" charset="0"/>
                <a:cs typeface="Times New Roman" panose="02020603050405020304" pitchFamily="18" charset="0"/>
              </a:rPr>
              <a:t>The analysis indicates that specialized and high-demand programming languages often command higher salaries. While Swift leads in compensation, Python and JavaScript combine strong salary potential with broad industry adoption, making them attractive career choices.</a:t>
            </a:r>
          </a:p>
          <a:p>
            <a:pPr marL="0" indent="0">
              <a:buNone/>
            </a:pPr>
            <a:r>
              <a:rPr lang="en-US" sz="1600" b="1" dirty="0">
                <a:latin typeface="Times New Roman" panose="02020603050405020304" pitchFamily="18" charset="0"/>
                <a:cs typeface="Times New Roman" panose="02020603050405020304" pitchFamily="18" charset="0"/>
              </a:rPr>
              <a:t>BUSINESS IMPLICATION</a:t>
            </a:r>
          </a:p>
          <a:p>
            <a:r>
              <a:rPr lang="en-US" sz="1400" dirty="0">
                <a:latin typeface="Times New Roman" panose="02020603050405020304" pitchFamily="18" charset="0"/>
                <a:cs typeface="Times New Roman" panose="02020603050405020304" pitchFamily="18" charset="0"/>
              </a:rPr>
              <a:t>Professionals can use salary trends to guide skill development and career planning. </a:t>
            </a:r>
          </a:p>
          <a:p>
            <a:r>
              <a:rPr lang="en-US" sz="1400" dirty="0">
                <a:latin typeface="Times New Roman" panose="02020603050405020304" pitchFamily="18" charset="0"/>
                <a:cs typeface="Times New Roman" panose="02020603050405020304" pitchFamily="18" charset="0"/>
              </a:rPr>
              <a:t>Organizations can benchmark compensation packages against market demand. </a:t>
            </a:r>
          </a:p>
          <a:p>
            <a:r>
              <a:rPr lang="en-US" sz="1400" dirty="0">
                <a:latin typeface="Times New Roman" panose="02020603050405020304" pitchFamily="18" charset="0"/>
                <a:cs typeface="Times New Roman" panose="02020603050405020304" pitchFamily="18" charset="0"/>
              </a:rPr>
              <a:t>High-paying technologies may require targeted hiring and training strategies to attract qualified talent. </a:t>
            </a:r>
          </a:p>
        </p:txBody>
      </p:sp>
      <p:pic>
        <p:nvPicPr>
          <p:cNvPr id="3" name="Picture 2">
            <a:extLst>
              <a:ext uri="{FF2B5EF4-FFF2-40B4-BE49-F238E27FC236}">
                <a16:creationId xmlns:a16="http://schemas.microsoft.com/office/drawing/2014/main" id="{27FC024D-125D-5858-1AAC-7DD983B47694}"/>
              </a:ext>
            </a:extLst>
          </p:cNvPr>
          <p:cNvPicPr>
            <a:picLocks noChangeAspect="1"/>
          </p:cNvPicPr>
          <p:nvPr/>
        </p:nvPicPr>
        <p:blipFill>
          <a:blip r:embed="rId3"/>
          <a:stretch>
            <a:fillRect/>
          </a:stretch>
        </p:blipFill>
        <p:spPr>
          <a:xfrm>
            <a:off x="0" y="2476794"/>
            <a:ext cx="4595360" cy="2745655"/>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1626294" y="878836"/>
            <a:ext cx="8761413" cy="706964"/>
          </a:xfrm>
        </p:spPr>
        <p:txBody>
          <a:bodyPr/>
          <a:lstStyle/>
          <a:p>
            <a:pPr algn="ctr"/>
            <a:r>
              <a:rPr lang="en-US" b="1" dirty="0">
                <a:latin typeface="Times New Roman" panose="02020603050405020304" pitchFamily="18" charset="0"/>
                <a:cs typeface="Times New Roman" panose="02020603050405020304" pitchFamily="18" charset="0"/>
              </a:rPr>
              <a:t>PROGRAMMING LANGUAGE TRENDS</a:t>
            </a:r>
          </a:p>
        </p:txBody>
      </p:sp>
      <p:pic>
        <p:nvPicPr>
          <p:cNvPr id="13" name="Picture 12">
            <a:extLst>
              <a:ext uri="{FF2B5EF4-FFF2-40B4-BE49-F238E27FC236}">
                <a16:creationId xmlns:a16="http://schemas.microsoft.com/office/drawing/2014/main" id="{686A8548-886C-A09F-3980-2183C93427CE}"/>
              </a:ext>
            </a:extLst>
          </p:cNvPr>
          <p:cNvPicPr>
            <a:picLocks noChangeAspect="1"/>
          </p:cNvPicPr>
          <p:nvPr/>
        </p:nvPicPr>
        <p:blipFill>
          <a:blip r:embed="rId3"/>
          <a:stretch>
            <a:fillRect/>
          </a:stretch>
        </p:blipFill>
        <p:spPr>
          <a:xfrm>
            <a:off x="6372958" y="2567160"/>
            <a:ext cx="5731058" cy="3412004"/>
          </a:xfrm>
          <a:prstGeom prst="rect">
            <a:avLst/>
          </a:prstGeom>
        </p:spPr>
      </p:pic>
      <p:pic>
        <p:nvPicPr>
          <p:cNvPr id="15" name="Picture 14">
            <a:extLst>
              <a:ext uri="{FF2B5EF4-FFF2-40B4-BE49-F238E27FC236}">
                <a16:creationId xmlns:a16="http://schemas.microsoft.com/office/drawing/2014/main" id="{85640874-9615-AA33-4754-742C3BAF8111}"/>
              </a:ext>
            </a:extLst>
          </p:cNvPr>
          <p:cNvPicPr>
            <a:picLocks noChangeAspect="1"/>
          </p:cNvPicPr>
          <p:nvPr/>
        </p:nvPicPr>
        <p:blipFill>
          <a:blip r:embed="rId4"/>
          <a:stretch>
            <a:fillRect/>
          </a:stretch>
        </p:blipFill>
        <p:spPr>
          <a:xfrm>
            <a:off x="-1" y="2567160"/>
            <a:ext cx="6212265" cy="3412005"/>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360219" y="614134"/>
            <a:ext cx="11471562" cy="1330037"/>
          </a:xfrm>
        </p:spPr>
        <p:txBody>
          <a:bodyPr>
            <a:noAutofit/>
          </a:bodyPr>
          <a:lstStyle/>
          <a:p>
            <a:pPr algn="ctr"/>
            <a:r>
              <a:rPr lang="en-US" b="1" dirty="0">
                <a:latin typeface="Times New Roman" panose="02020603050405020304" pitchFamily="18" charset="0"/>
                <a:cs typeface="Times New Roman" panose="02020603050405020304" pitchFamily="18" charset="0"/>
              </a:rPr>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172792" y="2428940"/>
            <a:ext cx="5578311" cy="4351338"/>
          </a:xfrm>
        </p:spPr>
        <p:txBody>
          <a:bodyPr>
            <a:normAutofit fontScale="92500" lnSpcReduction="10000"/>
          </a:bodyPr>
          <a:lstStyle/>
          <a:p>
            <a:pPr marL="0" indent="0">
              <a:buNone/>
            </a:pPr>
            <a:r>
              <a:rPr lang="en-US" sz="1900" b="1" dirty="0">
                <a:latin typeface="Times New Roman" panose="02020603050405020304" pitchFamily="18" charset="0"/>
                <a:cs typeface="Times New Roman" panose="02020603050405020304" pitchFamily="18" charset="0"/>
              </a:rPr>
              <a:t>FINDINGS</a:t>
            </a:r>
          </a:p>
          <a:p>
            <a:r>
              <a:rPr lang="en-US" sz="1500" b="1" dirty="0">
                <a:latin typeface="Times New Roman" panose="02020603050405020304" pitchFamily="18" charset="0"/>
                <a:cs typeface="Times New Roman" panose="02020603050405020304" pitchFamily="18" charset="0"/>
              </a:rPr>
              <a:t>Python, JavaScript, and SQL</a:t>
            </a:r>
            <a:r>
              <a:rPr lang="en-US" sz="1500" dirty="0">
                <a:latin typeface="Times New Roman" panose="02020603050405020304" pitchFamily="18" charset="0"/>
                <a:cs typeface="Times New Roman" panose="02020603050405020304" pitchFamily="18" charset="0"/>
              </a:rPr>
              <a:t> are among the most widely used programming languages in the current developer ecosystem. </a:t>
            </a:r>
          </a:p>
          <a:p>
            <a:r>
              <a:rPr lang="en-US" sz="1500" b="1" dirty="0">
                <a:latin typeface="Times New Roman" panose="02020603050405020304" pitchFamily="18" charset="0"/>
                <a:cs typeface="Times New Roman" panose="02020603050405020304" pitchFamily="18" charset="0"/>
              </a:rPr>
              <a:t>Python</a:t>
            </a:r>
            <a:r>
              <a:rPr lang="en-US" sz="1500" dirty="0">
                <a:latin typeface="Times New Roman" panose="02020603050405020304" pitchFamily="18" charset="0"/>
                <a:cs typeface="Times New Roman" panose="02020603050405020304" pitchFamily="18" charset="0"/>
              </a:rPr>
              <a:t> continues to show strong adoption due to its applications in Data Science, Artificial Intelligence, Machine Learning, and Automation. </a:t>
            </a:r>
          </a:p>
          <a:p>
            <a:r>
              <a:rPr lang="en-US" sz="1500" b="1" dirty="0">
                <a:latin typeface="Times New Roman" panose="02020603050405020304" pitchFamily="18" charset="0"/>
                <a:cs typeface="Times New Roman" panose="02020603050405020304" pitchFamily="18" charset="0"/>
              </a:rPr>
              <a:t>JavaScript</a:t>
            </a:r>
            <a:r>
              <a:rPr lang="en-US" sz="1500" dirty="0">
                <a:latin typeface="Times New Roman" panose="02020603050405020304" pitchFamily="18" charset="0"/>
                <a:cs typeface="Times New Roman" panose="02020603050405020304" pitchFamily="18" charset="0"/>
              </a:rPr>
              <a:t> remains the dominant language for web development and continues to be a core technology for frontend and full-stack development. </a:t>
            </a:r>
          </a:p>
          <a:p>
            <a:r>
              <a:rPr lang="en-US" sz="1500" dirty="0">
                <a:latin typeface="Times New Roman" panose="02020603050405020304" pitchFamily="18" charset="0"/>
                <a:cs typeface="Times New Roman" panose="02020603050405020304" pitchFamily="18" charset="0"/>
              </a:rPr>
              <a:t>Analysis of future preferences indicates increasing interest in </a:t>
            </a:r>
            <a:r>
              <a:rPr lang="en-US" sz="1500" b="1" dirty="0">
                <a:latin typeface="Times New Roman" panose="02020603050405020304" pitchFamily="18" charset="0"/>
                <a:cs typeface="Times New Roman" panose="02020603050405020304" pitchFamily="18" charset="0"/>
              </a:rPr>
              <a:t>Python, TypeScript, and Rust</a:t>
            </a:r>
            <a:r>
              <a:rPr lang="en-US" sz="1500" dirty="0">
                <a:latin typeface="Times New Roman" panose="02020603050405020304" pitchFamily="18" charset="0"/>
                <a:cs typeface="Times New Roman" panose="02020603050405020304" pitchFamily="18" charset="0"/>
              </a:rPr>
              <a:t>, suggesting continued growth in modern software development technologies. </a:t>
            </a:r>
          </a:p>
          <a:p>
            <a:r>
              <a:rPr lang="en-US" sz="1500" dirty="0">
                <a:latin typeface="Times New Roman" panose="02020603050405020304" pitchFamily="18" charset="0"/>
                <a:cs typeface="Times New Roman" panose="02020603050405020304" pitchFamily="18" charset="0"/>
              </a:rPr>
              <a:t>The comparison between current usage and future interest highlights a shift toward technologies that support cloud computing, AI, and scalable applications.</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096000" y="2428940"/>
            <a:ext cx="5578311" cy="4351338"/>
          </a:xfrm>
        </p:spPr>
        <p:txBody>
          <a:bodyPr>
            <a:normAutofit fontScale="92500" lnSpcReduction="10000"/>
          </a:bodyPr>
          <a:lstStyle/>
          <a:p>
            <a:pPr marL="0" indent="0">
              <a:buNone/>
            </a:pPr>
            <a:r>
              <a:rPr lang="en-US" sz="1900" b="1" dirty="0">
                <a:latin typeface="Times New Roman" panose="02020603050405020304" pitchFamily="18" charset="0"/>
                <a:cs typeface="Times New Roman" panose="02020603050405020304" pitchFamily="18" charset="0"/>
              </a:rPr>
              <a:t>IMPLICATIONS</a:t>
            </a:r>
          </a:p>
          <a:p>
            <a:r>
              <a:rPr lang="en-US" sz="1700" dirty="0">
                <a:latin typeface="Times New Roman" panose="02020603050405020304" pitchFamily="18" charset="0"/>
                <a:cs typeface="Times New Roman" panose="02020603050405020304" pitchFamily="18" charset="0"/>
              </a:rPr>
              <a:t>Organizations should prioritize </a:t>
            </a:r>
            <a:r>
              <a:rPr lang="en-US" sz="1700" b="1" dirty="0">
                <a:latin typeface="Times New Roman" panose="02020603050405020304" pitchFamily="18" charset="0"/>
                <a:cs typeface="Times New Roman" panose="02020603050405020304" pitchFamily="18" charset="0"/>
              </a:rPr>
              <a:t>Python training and recruitment</a:t>
            </a:r>
            <a:r>
              <a:rPr lang="en-US" sz="1700" dirty="0">
                <a:latin typeface="Times New Roman" panose="02020603050405020304" pitchFamily="18" charset="0"/>
                <a:cs typeface="Times New Roman" panose="02020603050405020304" pitchFamily="18" charset="0"/>
              </a:rPr>
              <a:t> to meet growing demand in AI, Data Science, and automation-related projects. </a:t>
            </a:r>
          </a:p>
          <a:p>
            <a:r>
              <a:rPr lang="en-US" sz="1700" dirty="0">
                <a:latin typeface="Times New Roman" panose="02020603050405020304" pitchFamily="18" charset="0"/>
                <a:cs typeface="Times New Roman" panose="02020603050405020304" pitchFamily="18" charset="0"/>
              </a:rPr>
              <a:t>Continued investment in </a:t>
            </a:r>
            <a:r>
              <a:rPr lang="en-US" sz="1700" b="1" dirty="0">
                <a:latin typeface="Times New Roman" panose="02020603050405020304" pitchFamily="18" charset="0"/>
                <a:cs typeface="Times New Roman" panose="02020603050405020304" pitchFamily="18" charset="0"/>
              </a:rPr>
              <a:t>JavaScript and TypeScript</a:t>
            </a:r>
            <a:r>
              <a:rPr lang="en-US" sz="1700" dirty="0">
                <a:latin typeface="Times New Roman" panose="02020603050405020304" pitchFamily="18" charset="0"/>
                <a:cs typeface="Times New Roman" panose="02020603050405020304" pitchFamily="18" charset="0"/>
              </a:rPr>
              <a:t> skills is essential to support modern web application development. </a:t>
            </a:r>
          </a:p>
          <a:p>
            <a:r>
              <a:rPr lang="en-US" sz="1700" dirty="0">
                <a:latin typeface="Times New Roman" panose="02020603050405020304" pitchFamily="18" charset="0"/>
                <a:cs typeface="Times New Roman" panose="02020603050405020304" pitchFamily="18" charset="0"/>
              </a:rPr>
              <a:t>Emerging technologies such as </a:t>
            </a:r>
            <a:r>
              <a:rPr lang="en-US" sz="1700" b="1" dirty="0">
                <a:latin typeface="Times New Roman" panose="02020603050405020304" pitchFamily="18" charset="0"/>
                <a:cs typeface="Times New Roman" panose="02020603050405020304" pitchFamily="18" charset="0"/>
              </a:rPr>
              <a:t>Rust</a:t>
            </a:r>
            <a:r>
              <a:rPr lang="en-US" sz="1700" dirty="0">
                <a:latin typeface="Times New Roman" panose="02020603050405020304" pitchFamily="18" charset="0"/>
                <a:cs typeface="Times New Roman" panose="02020603050405020304" pitchFamily="18" charset="0"/>
              </a:rPr>
              <a:t> should be monitored as potential future strategic skills due to their increasing popularity among developers. </a:t>
            </a:r>
          </a:p>
          <a:p>
            <a:r>
              <a:rPr lang="en-US" sz="1700" dirty="0">
                <a:latin typeface="Times New Roman" panose="02020603050405020304" pitchFamily="18" charset="0"/>
                <a:cs typeface="Times New Roman" panose="02020603050405020304" pitchFamily="18" charset="0"/>
              </a:rPr>
              <a:t>Educational institutions and training providers should align learning programs with evolving industry preferences to improve workforce readiness. </a:t>
            </a:r>
          </a:p>
          <a:p>
            <a:r>
              <a:rPr lang="en-US" sz="1700" dirty="0">
                <a:latin typeface="Times New Roman" panose="02020603050405020304" pitchFamily="18" charset="0"/>
                <a:cs typeface="Times New Roman" panose="02020603050405020304" pitchFamily="18" charset="0"/>
              </a:rPr>
              <a:t>Businesses that proactively invest in high-demand programming skills are likely to gain a competitive advantage in technology adoption and talent acquisition.</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914400" y="643632"/>
            <a:ext cx="10515600" cy="1325563"/>
          </a:xfrm>
        </p:spPr>
        <p:txBody>
          <a:bodyPr/>
          <a:lstStyle/>
          <a:p>
            <a:pPr algn="ctr"/>
            <a:r>
              <a:rPr lang="en-US" b="1" dirty="0">
                <a:latin typeface="Times New Roman" panose="02020603050405020304" pitchFamily="18" charset="0"/>
                <a:cs typeface="Times New Roman" panose="02020603050405020304" pitchFamily="18" charset="0"/>
              </a:rPr>
              <a:t>DATABASE TRENDS</a:t>
            </a:r>
          </a:p>
        </p:txBody>
      </p:sp>
      <p:pic>
        <p:nvPicPr>
          <p:cNvPr id="13" name="Picture 12">
            <a:extLst>
              <a:ext uri="{FF2B5EF4-FFF2-40B4-BE49-F238E27FC236}">
                <a16:creationId xmlns:a16="http://schemas.microsoft.com/office/drawing/2014/main" id="{2232EE82-A878-0269-A998-F5802A894FDA}"/>
              </a:ext>
            </a:extLst>
          </p:cNvPr>
          <p:cNvPicPr>
            <a:picLocks noChangeAspect="1"/>
          </p:cNvPicPr>
          <p:nvPr/>
        </p:nvPicPr>
        <p:blipFill>
          <a:blip r:embed="rId4"/>
          <a:stretch>
            <a:fillRect/>
          </a:stretch>
        </p:blipFill>
        <p:spPr>
          <a:xfrm>
            <a:off x="185493" y="2968531"/>
            <a:ext cx="5747309" cy="3329078"/>
          </a:xfrm>
          <a:prstGeom prst="rect">
            <a:avLst/>
          </a:prstGeom>
        </p:spPr>
      </p:pic>
      <p:pic>
        <p:nvPicPr>
          <p:cNvPr id="15" name="Picture 14">
            <a:extLst>
              <a:ext uri="{FF2B5EF4-FFF2-40B4-BE49-F238E27FC236}">
                <a16:creationId xmlns:a16="http://schemas.microsoft.com/office/drawing/2014/main" id="{35D06116-4B95-A1C9-B2EA-12946A9E7F9D}"/>
              </a:ext>
            </a:extLst>
          </p:cNvPr>
          <p:cNvPicPr>
            <a:picLocks noChangeAspect="1"/>
          </p:cNvPicPr>
          <p:nvPr/>
        </p:nvPicPr>
        <p:blipFill>
          <a:blip r:embed="rId5"/>
          <a:stretch>
            <a:fillRect/>
          </a:stretch>
        </p:blipFill>
        <p:spPr>
          <a:xfrm>
            <a:off x="6504493" y="2968531"/>
            <a:ext cx="5561815" cy="3329078"/>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367393" y="855748"/>
            <a:ext cx="11457214" cy="975302"/>
          </a:xfrm>
        </p:spPr>
        <p:txBody>
          <a:bodyPr>
            <a:normAutofit/>
          </a:bodyPr>
          <a:lstStyle/>
          <a:p>
            <a:pPr algn="ctr"/>
            <a:r>
              <a:rPr lang="en-US" b="1" dirty="0">
                <a:latin typeface="Times New Roman" panose="02020603050405020304" pitchFamily="18" charset="0"/>
                <a:cs typeface="Times New Roman" panose="02020603050405020304" pitchFamily="18" charset="0"/>
              </a:rPr>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201073" y="2334673"/>
            <a:ext cx="5181600" cy="4351338"/>
          </a:xfrm>
        </p:spPr>
        <p:txBody>
          <a:bodyPr/>
          <a:lstStyle/>
          <a:p>
            <a:pPr marL="0" indent="0">
              <a:buNone/>
            </a:pPr>
            <a:r>
              <a:rPr lang="en-US" sz="2000" b="1" dirty="0"/>
              <a:t>FINDINGS</a:t>
            </a:r>
          </a:p>
          <a:p>
            <a:r>
              <a:rPr lang="en-US" b="1" dirty="0"/>
              <a:t>PostgreSQL</a:t>
            </a:r>
            <a:r>
              <a:rPr lang="en-US" dirty="0"/>
              <a:t> is the leading database in both current usage and future preference. </a:t>
            </a:r>
          </a:p>
          <a:p>
            <a:r>
              <a:rPr lang="en-US" b="1" dirty="0"/>
              <a:t>MySQL</a:t>
            </a:r>
            <a:r>
              <a:rPr lang="en-US" dirty="0"/>
              <a:t> remains widely adopted across the developer community. </a:t>
            </a:r>
          </a:p>
          <a:p>
            <a:r>
              <a:rPr lang="en-US" b="1" dirty="0"/>
              <a:t>MongoDB</a:t>
            </a:r>
            <a:r>
              <a:rPr lang="en-US" dirty="0"/>
              <a:t> and </a:t>
            </a:r>
            <a:r>
              <a:rPr lang="en-US" b="1" dirty="0"/>
              <a:t>Redis</a:t>
            </a:r>
            <a:r>
              <a:rPr lang="en-US" dirty="0"/>
              <a:t> show increasing interest among developers. </a:t>
            </a:r>
          </a:p>
          <a:p>
            <a:r>
              <a:rPr lang="en-US" dirty="0"/>
              <a:t>Future preferences indicate a shift toward scalable and cloud-compatible database technologies.</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91054" y="2506662"/>
            <a:ext cx="5181600" cy="4179349"/>
          </a:xfrm>
        </p:spPr>
        <p:txBody>
          <a:bodyPr/>
          <a:lstStyle/>
          <a:p>
            <a:pPr marL="0" indent="0">
              <a:buNone/>
            </a:pPr>
            <a:r>
              <a:rPr lang="en-US" sz="2000" b="1" dirty="0"/>
              <a:t>IMPLICATIONS</a:t>
            </a:r>
          </a:p>
          <a:p>
            <a:r>
              <a:rPr lang="en-US" dirty="0"/>
              <a:t>Organizations should invest in </a:t>
            </a:r>
            <a:r>
              <a:rPr lang="en-US" b="1" dirty="0"/>
              <a:t>PostgreSQL expertise</a:t>
            </a:r>
            <a:r>
              <a:rPr lang="en-US" dirty="0"/>
              <a:t> to support future technology needs. </a:t>
            </a:r>
          </a:p>
          <a:p>
            <a:r>
              <a:rPr lang="en-US" dirty="0"/>
              <a:t>Developers should build skills in both </a:t>
            </a:r>
            <a:r>
              <a:rPr lang="en-US" b="1" dirty="0"/>
              <a:t>relational (SQL)</a:t>
            </a:r>
            <a:r>
              <a:rPr lang="en-US" dirty="0"/>
              <a:t> and </a:t>
            </a:r>
            <a:r>
              <a:rPr lang="en-US" b="1" dirty="0"/>
              <a:t>NoSQL</a:t>
            </a:r>
            <a:r>
              <a:rPr lang="en-US" dirty="0"/>
              <a:t> databases. </a:t>
            </a:r>
          </a:p>
          <a:p>
            <a:r>
              <a:rPr lang="en-US" dirty="0"/>
              <a:t>Growing interest in modern databases highlights the importance of cloud and data-driven a</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1715293" y="964241"/>
            <a:ext cx="8761413" cy="706964"/>
          </a:xfrm>
        </p:spPr>
        <p:txBody>
          <a:bodyPr anchor="ctr">
            <a:normAutofit/>
          </a:bodyPr>
          <a:lstStyle/>
          <a:p>
            <a:pPr algn="ctr"/>
            <a:r>
              <a:rPr lang="en-US" b="1" dirty="0">
                <a:latin typeface="Times New Roman" panose="02020603050405020304" pitchFamily="18" charset="0"/>
                <a:cs typeface="Times New Roman" panose="02020603050405020304" pitchFamily="18" charset="0"/>
              </a:rPr>
              <a:t>DASHBOARD</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725863" y="615425"/>
            <a:ext cx="1404595" cy="1404595"/>
          </a:xfrm>
          <a:prstGeom prst="rect">
            <a:avLst/>
          </a:prstGeom>
        </p:spPr>
      </p:pic>
      <p:sp>
        <p:nvSpPr>
          <p:cNvPr id="6" name="TextBox 5">
            <a:extLst>
              <a:ext uri="{FF2B5EF4-FFF2-40B4-BE49-F238E27FC236}">
                <a16:creationId xmlns:a16="http://schemas.microsoft.com/office/drawing/2014/main" id="{307F6447-6BA9-5AC4-7741-8080D7F4F272}"/>
              </a:ext>
            </a:extLst>
          </p:cNvPr>
          <p:cNvSpPr txBox="1"/>
          <p:nvPr/>
        </p:nvSpPr>
        <p:spPr>
          <a:xfrm>
            <a:off x="1" y="2560545"/>
            <a:ext cx="5740924" cy="3139321"/>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Purpose</a:t>
            </a:r>
          </a:p>
          <a:p>
            <a:pPr>
              <a:buNone/>
            </a:pPr>
            <a:r>
              <a:rPr lang="en-US" dirty="0">
                <a:latin typeface="Times New Roman" panose="02020603050405020304" pitchFamily="18" charset="0"/>
                <a:cs typeface="Times New Roman" panose="02020603050405020304" pitchFamily="18" charset="0"/>
              </a:rPr>
              <a:t>The dashboards were developed using survey data to analyze: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Current Technology Usage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Technology Trends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Developer Demographics </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Objective</a:t>
            </a:r>
          </a:p>
          <a:p>
            <a:r>
              <a:rPr lang="en-US" dirty="0">
                <a:latin typeface="Times New Roman" panose="02020603050405020304" pitchFamily="18" charset="0"/>
                <a:cs typeface="Times New Roman" panose="02020603050405020304" pitchFamily="18" charset="0"/>
              </a:rPr>
              <a:t>Provide an interactive view of technology adoption patterns, future technology preferences, and respondent demographics to support data-driven decision making.</a:t>
            </a:r>
          </a:p>
        </p:txBody>
      </p:sp>
      <p:sp>
        <p:nvSpPr>
          <p:cNvPr id="8" name="TextBox 7">
            <a:extLst>
              <a:ext uri="{FF2B5EF4-FFF2-40B4-BE49-F238E27FC236}">
                <a16:creationId xmlns:a16="http://schemas.microsoft.com/office/drawing/2014/main" id="{F967921F-248E-EE9A-4872-4B4F554437BC}"/>
              </a:ext>
            </a:extLst>
          </p:cNvPr>
          <p:cNvSpPr txBox="1"/>
          <p:nvPr/>
        </p:nvSpPr>
        <p:spPr>
          <a:xfrm>
            <a:off x="5938887" y="2581062"/>
            <a:ext cx="6117995" cy="4124206"/>
          </a:xfrm>
          <a:prstGeom prst="rect">
            <a:avLst/>
          </a:prstGeom>
          <a:noFill/>
        </p:spPr>
        <p:txBody>
          <a:bodyPr wrap="square">
            <a:spAutoFit/>
          </a:bodyPr>
          <a:lstStyle/>
          <a:p>
            <a:pPr algn="ctr"/>
            <a:r>
              <a:rPr lang="en-US" sz="1600" b="1" dirty="0">
                <a:latin typeface="Times New Roman" panose="02020603050405020304" pitchFamily="18" charset="0"/>
                <a:cs typeface="Times New Roman" panose="02020603050405020304" pitchFamily="18" charset="0"/>
              </a:rPr>
              <a:t>Dashboard Components</a:t>
            </a:r>
          </a:p>
          <a:p>
            <a:pPr>
              <a:buNone/>
            </a:pPr>
            <a:r>
              <a:rPr lang="en-US" sz="1400" b="1" dirty="0">
                <a:latin typeface="Times New Roman" panose="02020603050405020304" pitchFamily="18" charset="0"/>
                <a:cs typeface="Times New Roman" panose="02020603050405020304" pitchFamily="18" charset="0"/>
              </a:rPr>
              <a:t>Dashboard Tab 1</a:t>
            </a:r>
          </a:p>
          <a:p>
            <a:pPr>
              <a:buNone/>
            </a:pPr>
            <a:r>
              <a:rPr lang="en-US" sz="1200" dirty="0">
                <a:latin typeface="Times New Roman" panose="02020603050405020304" pitchFamily="18" charset="0"/>
                <a:cs typeface="Times New Roman" panose="02020603050405020304" pitchFamily="18" charset="0"/>
              </a:rPr>
              <a:t>Current Technology Usage</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Programming Languages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Databases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Platforms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Web Frameworks </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None/>
            </a:pPr>
            <a:r>
              <a:rPr lang="en-US" sz="1400" b="1" dirty="0">
                <a:latin typeface="Times New Roman" panose="02020603050405020304" pitchFamily="18" charset="0"/>
                <a:cs typeface="Times New Roman" panose="02020603050405020304" pitchFamily="18" charset="0"/>
              </a:rPr>
              <a:t>Dashboard Tab 2</a:t>
            </a:r>
          </a:p>
          <a:p>
            <a:pPr>
              <a:buNone/>
            </a:pPr>
            <a:r>
              <a:rPr lang="en-US" sz="1200" dirty="0">
                <a:latin typeface="Times New Roman" panose="02020603050405020304" pitchFamily="18" charset="0"/>
                <a:cs typeface="Times New Roman" panose="02020603050405020304" pitchFamily="18" charset="0"/>
              </a:rPr>
              <a:t>Future Technology Trends</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Languages Desired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Databases Desired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Platforms Desired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Web Frameworks Desired </a:t>
            </a:r>
          </a:p>
          <a:p>
            <a:endParaRPr lang="en-US" sz="1200" dirty="0">
              <a:latin typeface="Times New Roman" panose="02020603050405020304" pitchFamily="18" charset="0"/>
              <a:cs typeface="Times New Roman" panose="02020603050405020304" pitchFamily="18" charset="0"/>
            </a:endParaRPr>
          </a:p>
          <a:p>
            <a:pPr>
              <a:buNone/>
            </a:pPr>
            <a:r>
              <a:rPr lang="en-US" sz="1400" b="1" dirty="0">
                <a:latin typeface="Times New Roman" panose="02020603050405020304" pitchFamily="18" charset="0"/>
                <a:cs typeface="Times New Roman" panose="02020603050405020304" pitchFamily="18" charset="0"/>
              </a:rPr>
              <a:t>Dashboard Tab 3</a:t>
            </a:r>
          </a:p>
          <a:p>
            <a:pPr>
              <a:buNone/>
            </a:pPr>
            <a:r>
              <a:rPr lang="en-US" sz="1200" dirty="0">
                <a:latin typeface="Times New Roman" panose="02020603050405020304" pitchFamily="18" charset="0"/>
                <a:cs typeface="Times New Roman" panose="02020603050405020304" pitchFamily="18" charset="0"/>
              </a:rPr>
              <a:t>Demographics</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Countries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Age Groups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Education Level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Professional Background </a:t>
            </a:r>
          </a:p>
        </p:txBody>
      </p:sp>
      <p:sp>
        <p:nvSpPr>
          <p:cNvPr id="10" name="TextBox 9">
            <a:extLst>
              <a:ext uri="{FF2B5EF4-FFF2-40B4-BE49-F238E27FC236}">
                <a16:creationId xmlns:a16="http://schemas.microsoft.com/office/drawing/2014/main" id="{A2927ABF-D486-A5C1-A465-91CAA5300E3F}"/>
              </a:ext>
            </a:extLst>
          </p:cNvPr>
          <p:cNvSpPr txBox="1"/>
          <p:nvPr/>
        </p:nvSpPr>
        <p:spPr>
          <a:xfrm>
            <a:off x="2641862" y="2211730"/>
            <a:ext cx="6455004"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Technology Trends &amp; Demographics Dashboard Analysis</a:t>
            </a:r>
          </a:p>
        </p:txBody>
      </p:sp>
    </p:spTree>
    <p:custDataLst>
      <p:tags r:id="rId1"/>
    </p:custDataLst>
    <p:extLst>
      <p:ext uri="{BB962C8B-B14F-4D97-AF65-F5344CB8AC3E}">
        <p14:creationId xmlns:p14="http://schemas.microsoft.com/office/powerpoint/2010/main" val="175219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552450" y="815974"/>
            <a:ext cx="11087100" cy="985693"/>
          </a:xfrm>
        </p:spPr>
        <p:txBody>
          <a:bodyPr anchor="ctr">
            <a:noAutofit/>
          </a:bodyPr>
          <a:lstStyle/>
          <a:p>
            <a:pPr algn="ctr"/>
            <a:r>
              <a:rPr lang="en-US" b="1" dirty="0">
                <a:latin typeface="Times New Roman" panose="02020603050405020304" pitchFamily="18" charset="0"/>
                <a:cs typeface="Times New Roman" panose="02020603050405020304" pitchFamily="18" charset="0"/>
              </a:rPr>
              <a:t>DASHBOARD TAB 1: Current Technology Usage</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41923F4E-41A2-28EC-CDE5-C8274F6CEA91}"/>
              </a:ext>
            </a:extLst>
          </p:cNvPr>
          <p:cNvPicPr>
            <a:picLocks noChangeAspect="1"/>
          </p:cNvPicPr>
          <p:nvPr/>
        </p:nvPicPr>
        <p:blipFill>
          <a:blip r:embed="rId4"/>
          <a:stretch>
            <a:fillRect/>
          </a:stretch>
        </p:blipFill>
        <p:spPr>
          <a:xfrm>
            <a:off x="394904" y="2340020"/>
            <a:ext cx="4925700" cy="3052673"/>
          </a:xfrm>
          <a:prstGeom prst="rect">
            <a:avLst/>
          </a:prstGeom>
        </p:spPr>
      </p:pic>
      <p:sp>
        <p:nvSpPr>
          <p:cNvPr id="7" name="TextBox 6">
            <a:extLst>
              <a:ext uri="{FF2B5EF4-FFF2-40B4-BE49-F238E27FC236}">
                <a16:creationId xmlns:a16="http://schemas.microsoft.com/office/drawing/2014/main" id="{9EE8CACC-CAD3-27CF-468D-FC9826ACA834}"/>
              </a:ext>
            </a:extLst>
          </p:cNvPr>
          <p:cNvSpPr txBox="1"/>
          <p:nvPr/>
        </p:nvSpPr>
        <p:spPr>
          <a:xfrm>
            <a:off x="5571241" y="2496375"/>
            <a:ext cx="6372519" cy="3545651"/>
          </a:xfrm>
          <a:prstGeom prst="rect">
            <a:avLst/>
          </a:prstGeom>
          <a:noFill/>
        </p:spPr>
        <p:txBody>
          <a:bodyPr wrap="square">
            <a:spAutoFit/>
          </a:bodyPr>
          <a:lstStyle/>
          <a:p>
            <a:pPr algn="ctr">
              <a:buNone/>
            </a:pPr>
            <a:r>
              <a:rPr lang="en-US" sz="2400" b="1" dirty="0">
                <a:latin typeface="Times New Roman" panose="02020603050405020304" pitchFamily="18" charset="0"/>
                <a:cs typeface="Times New Roman" panose="02020603050405020304" pitchFamily="18" charset="0"/>
              </a:rPr>
              <a:t>DASHBOARD INSIGHTS</a:t>
            </a:r>
          </a:p>
          <a:p>
            <a:pPr algn="ctr">
              <a:buNone/>
            </a:pPr>
            <a:endParaRPr lang="en-US" sz="2400" b="1"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JavaScript, Python, and SQL are the most widely used programming languages.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PostgreSQL and MySQL are the leading databases.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AWS, Azure, and Google Cloud dominate platform usage. </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React and Node.js are among the most commonly used web frameworks.</a:t>
            </a:r>
          </a:p>
        </p:txBody>
      </p:sp>
    </p:spTree>
    <p:custDataLst>
      <p:tags r:id="rId1"/>
    </p:custDataLst>
    <p:extLst>
      <p:ext uri="{BB962C8B-B14F-4D97-AF65-F5344CB8AC3E}">
        <p14:creationId xmlns:p14="http://schemas.microsoft.com/office/powerpoint/2010/main" val="2429736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568037" y="741967"/>
            <a:ext cx="11055926" cy="1016866"/>
          </a:xfrm>
        </p:spPr>
        <p:txBody>
          <a:bodyPr anchor="ctr">
            <a:normAutofit/>
          </a:bodyPr>
          <a:lstStyle/>
          <a:p>
            <a:pPr algn="ctr"/>
            <a:r>
              <a:rPr lang="en-US" b="1" dirty="0">
                <a:latin typeface="Times New Roman" panose="02020603050405020304" pitchFamily="18" charset="0"/>
                <a:cs typeface="Times New Roman" panose="02020603050405020304" pitchFamily="18" charset="0"/>
              </a:rPr>
              <a:t>DASHBOARD TAB 2: Future Technology Trends</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670E9BE6-6D45-C596-5D1B-D392D0369755}"/>
              </a:ext>
            </a:extLst>
          </p:cNvPr>
          <p:cNvPicPr>
            <a:picLocks noChangeAspect="1"/>
          </p:cNvPicPr>
          <p:nvPr/>
        </p:nvPicPr>
        <p:blipFill>
          <a:blip r:embed="rId4"/>
          <a:stretch>
            <a:fillRect/>
          </a:stretch>
        </p:blipFill>
        <p:spPr>
          <a:xfrm>
            <a:off x="101224" y="2417673"/>
            <a:ext cx="5970912" cy="3698360"/>
          </a:xfrm>
          <a:prstGeom prst="rect">
            <a:avLst/>
          </a:prstGeom>
        </p:spPr>
      </p:pic>
      <p:sp>
        <p:nvSpPr>
          <p:cNvPr id="7" name="TextBox 6">
            <a:extLst>
              <a:ext uri="{FF2B5EF4-FFF2-40B4-BE49-F238E27FC236}">
                <a16:creationId xmlns:a16="http://schemas.microsoft.com/office/drawing/2014/main" id="{1BA946DB-A222-A0C8-BDC3-FA4F10D3E755}"/>
              </a:ext>
            </a:extLst>
          </p:cNvPr>
          <p:cNvSpPr txBox="1"/>
          <p:nvPr/>
        </p:nvSpPr>
        <p:spPr>
          <a:xfrm>
            <a:off x="6119866" y="2809189"/>
            <a:ext cx="6072134" cy="3120341"/>
          </a:xfrm>
          <a:prstGeom prst="rect">
            <a:avLst/>
          </a:prstGeom>
          <a:noFill/>
        </p:spPr>
        <p:txBody>
          <a:bodyPr wrap="square">
            <a:spAutoFit/>
          </a:bodyPr>
          <a:lstStyle/>
          <a:p>
            <a:pPr algn="ctr">
              <a:buNone/>
            </a:pPr>
            <a:r>
              <a:rPr lang="en-US" sz="2000" b="1" dirty="0">
                <a:latin typeface="Times New Roman" panose="02020603050405020304" pitchFamily="18" charset="0"/>
                <a:cs typeface="Times New Roman" panose="02020603050405020304" pitchFamily="18" charset="0"/>
              </a:rPr>
              <a:t>DASHBOARD INSIGHTS</a:t>
            </a:r>
          </a:p>
          <a:p>
            <a:pPr algn="ctr">
              <a:buNone/>
            </a:pPr>
            <a:endParaRPr lang="en-US" b="1"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Python remains one of the most desired programming languages.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PostgreSQL leads future database preferences.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Cloud platforms continue to attract strong developer interest.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Modern technologies such as Rust and TypeScript show increasing adoption potential. </a:t>
            </a:r>
          </a:p>
        </p:txBody>
      </p:sp>
    </p:spTree>
    <p:custDataLst>
      <p:tags r:id="rId1"/>
    </p:custDataLst>
    <p:extLst>
      <p:ext uri="{BB962C8B-B14F-4D97-AF65-F5344CB8AC3E}">
        <p14:creationId xmlns:p14="http://schemas.microsoft.com/office/powerpoint/2010/main" val="2048496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DASHBOARD TAB 3: Demographics</a:t>
            </a:r>
          </a:p>
        </p:txBody>
      </p:sp>
      <p:pic>
        <p:nvPicPr>
          <p:cNvPr id="4" name="Picture 3">
            <a:extLst>
              <a:ext uri="{FF2B5EF4-FFF2-40B4-BE49-F238E27FC236}">
                <a16:creationId xmlns:a16="http://schemas.microsoft.com/office/drawing/2014/main" id="{9204E190-250E-7EC5-EEBA-19C79B64473C}"/>
              </a:ext>
            </a:extLst>
          </p:cNvPr>
          <p:cNvPicPr>
            <a:picLocks noChangeAspect="1"/>
          </p:cNvPicPr>
          <p:nvPr/>
        </p:nvPicPr>
        <p:blipFill>
          <a:blip r:embed="rId4"/>
          <a:stretch>
            <a:fillRect/>
          </a:stretch>
        </p:blipFill>
        <p:spPr>
          <a:xfrm>
            <a:off x="1" y="2577124"/>
            <a:ext cx="5179710" cy="2824435"/>
          </a:xfrm>
          <a:prstGeom prst="rect">
            <a:avLst/>
          </a:prstGeom>
        </p:spPr>
      </p:pic>
      <p:sp>
        <p:nvSpPr>
          <p:cNvPr id="7" name="TextBox 6">
            <a:extLst>
              <a:ext uri="{FF2B5EF4-FFF2-40B4-BE49-F238E27FC236}">
                <a16:creationId xmlns:a16="http://schemas.microsoft.com/office/drawing/2014/main" id="{51D4428F-C22A-E87B-33BE-7E315D9EBF11}"/>
              </a:ext>
            </a:extLst>
          </p:cNvPr>
          <p:cNvSpPr txBox="1"/>
          <p:nvPr/>
        </p:nvSpPr>
        <p:spPr>
          <a:xfrm>
            <a:off x="5179711" y="2361966"/>
            <a:ext cx="6975834" cy="4031873"/>
          </a:xfrm>
          <a:prstGeom prst="rect">
            <a:avLst/>
          </a:prstGeom>
          <a:noFill/>
        </p:spPr>
        <p:txBody>
          <a:bodyPr wrap="square">
            <a:spAutoFit/>
          </a:bodyPr>
          <a:lstStyle/>
          <a:p>
            <a:pPr algn="ctr">
              <a:buNone/>
            </a:pPr>
            <a:r>
              <a:rPr lang="en-US" sz="2000" b="1" dirty="0">
                <a:latin typeface="Times New Roman" panose="02020603050405020304" pitchFamily="18" charset="0"/>
                <a:cs typeface="Times New Roman" panose="02020603050405020304" pitchFamily="18" charset="0"/>
              </a:rPr>
              <a:t>DASHBOARD INSIGHTS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respondents belong to the 25–44 age group.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United States, India, Germany, and the United Kingdom contribute the highest number of responses.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majority of respondents hold a Bachelor's degree or higher.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respondents identify as professional developers. </a:t>
            </a:r>
          </a:p>
          <a:p>
            <a:endParaRPr lang="en-US" dirty="0">
              <a:latin typeface="Times New Roman" panose="02020603050405020304" pitchFamily="18" charset="0"/>
              <a:cs typeface="Times New Roman" panose="02020603050405020304" pitchFamily="18" charset="0"/>
            </a:endParaRPr>
          </a:p>
          <a:p>
            <a:pPr algn="ctr">
              <a:buNone/>
            </a:pPr>
            <a:r>
              <a:rPr lang="en-US" sz="2000" b="1" dirty="0">
                <a:latin typeface="Times New Roman" panose="02020603050405020304" pitchFamily="18" charset="0"/>
                <a:cs typeface="Times New Roman" panose="02020603050405020304" pitchFamily="18" charset="0"/>
              </a:rPr>
              <a:t>SUMMARY OF DEMOGRAPHICS INSIGHTS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survey primarily represents active software professionals.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Respondents come from a globally distributed developer community.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demographic profile strengthens the reliability of the technology trend analysis.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Findings reflect the perspectives of experienced developers working in modern technology environments.</a:t>
            </a:r>
          </a:p>
        </p:txBody>
      </p:sp>
    </p:spTree>
    <p:custDataLst>
      <p:tags r:id="rId1"/>
    </p:custDataLst>
    <p:extLst>
      <p:ext uri="{BB962C8B-B14F-4D97-AF65-F5344CB8AC3E}">
        <p14:creationId xmlns:p14="http://schemas.microsoft.com/office/powerpoint/2010/main" val="2405636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1715293" y="1096216"/>
            <a:ext cx="8761413" cy="706964"/>
          </a:xfrm>
        </p:spPr>
        <p:txBody>
          <a:bodyPr anchor="ctr">
            <a:normAutofit/>
          </a:bodyPr>
          <a:lstStyle/>
          <a:p>
            <a:pPr algn="ctr"/>
            <a:r>
              <a:rPr lang="en-US" b="1" dirty="0">
                <a:latin typeface="Times New Roman" panose="02020603050405020304" pitchFamily="18" charset="0"/>
                <a:cs typeface="Times New Roman" panose="02020603050405020304" pitchFamily="18" charset="0"/>
              </a:rPr>
              <a:t>DISCUSSION</a:t>
            </a:r>
          </a:p>
        </p:txBody>
      </p:sp>
      <p:sp>
        <p:nvSpPr>
          <p:cNvPr id="10" name="TextBox 9">
            <a:extLst>
              <a:ext uri="{FF2B5EF4-FFF2-40B4-BE49-F238E27FC236}">
                <a16:creationId xmlns:a16="http://schemas.microsoft.com/office/drawing/2014/main" id="{D64F84A6-E701-E9C9-7EB2-7AAF765D0D9A}"/>
              </a:ext>
            </a:extLst>
          </p:cNvPr>
          <p:cNvSpPr txBox="1"/>
          <p:nvPr/>
        </p:nvSpPr>
        <p:spPr>
          <a:xfrm>
            <a:off x="320511" y="2210575"/>
            <a:ext cx="11761508" cy="4124206"/>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TECHNOLOGY USAGE TREND</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Python, JavaScript, and SQL</a:t>
            </a:r>
            <a:r>
              <a:rPr lang="en-US" sz="1200" dirty="0">
                <a:latin typeface="Times New Roman" panose="02020603050405020304" pitchFamily="18" charset="0"/>
                <a:cs typeface="Times New Roman" panose="02020603050405020304" pitchFamily="18" charset="0"/>
              </a:rPr>
              <a:t> remain the most widely used programming languages, highlighting their importance across software development, data analytics, and cloud-based applications. </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PostgreSQL and MySQL</a:t>
            </a:r>
            <a:r>
              <a:rPr lang="en-US" sz="1200" dirty="0">
                <a:latin typeface="Times New Roman" panose="02020603050405020304" pitchFamily="18" charset="0"/>
                <a:cs typeface="Times New Roman" panose="02020603050405020304" pitchFamily="18" charset="0"/>
              </a:rPr>
              <a:t> continue to dominate database usage, reflecting the ongoing relevance of relational database systems.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Cloud platforms such as </a:t>
            </a:r>
            <a:r>
              <a:rPr lang="en-US" sz="1200" b="1" dirty="0">
                <a:latin typeface="Times New Roman" panose="02020603050405020304" pitchFamily="18" charset="0"/>
                <a:cs typeface="Times New Roman" panose="02020603050405020304" pitchFamily="18" charset="0"/>
              </a:rPr>
              <a:t>AWS, Microsoft Azure, and Google Cloud</a:t>
            </a:r>
            <a:r>
              <a:rPr lang="en-US" sz="1200" dirty="0">
                <a:latin typeface="Times New Roman" panose="02020603050405020304" pitchFamily="18" charset="0"/>
                <a:cs typeface="Times New Roman" panose="02020603050405020304" pitchFamily="18" charset="0"/>
              </a:rPr>
              <a:t> have become essential components of modern technology environments. </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FUTURE TECHNOLOGY TREND</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Developers show strong interest in learning </a:t>
            </a:r>
            <a:r>
              <a:rPr lang="en-US" sz="1200" b="1" dirty="0">
                <a:latin typeface="Times New Roman" panose="02020603050405020304" pitchFamily="18" charset="0"/>
                <a:cs typeface="Times New Roman" panose="02020603050405020304" pitchFamily="18" charset="0"/>
              </a:rPr>
              <a:t>Python, PostgreSQL, TypeScript, and modern cloud technologies</a:t>
            </a:r>
            <a:r>
              <a:rPr lang="en-US" sz="1200" dirty="0">
                <a:latin typeface="Times New Roman" panose="02020603050405020304" pitchFamily="18" charset="0"/>
                <a:cs typeface="Times New Roman" panose="02020603050405020304" pitchFamily="18" charset="0"/>
              </a:rPr>
              <a:t>, indicating continued growth in these areas.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Emerging technologies are gaining attention as organizations increasingly adopt AI, automation, and scalable cloud-native solutions.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Future preferences suggest a shift toward technologies that support innovation, efficiency, and large-scale application development. </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DEMOGRAPHIC TREND</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majority of respondents are between </a:t>
            </a:r>
            <a:r>
              <a:rPr lang="en-US" sz="1200" b="1" dirty="0">
                <a:latin typeface="Times New Roman" panose="02020603050405020304" pitchFamily="18" charset="0"/>
                <a:cs typeface="Times New Roman" panose="02020603050405020304" pitchFamily="18" charset="0"/>
              </a:rPr>
              <a:t>25 and 44 years old</a:t>
            </a:r>
            <a:r>
              <a:rPr lang="en-US" sz="1200" dirty="0">
                <a:latin typeface="Times New Roman" panose="02020603050405020304" pitchFamily="18" charset="0"/>
                <a:cs typeface="Times New Roman" panose="02020603050405020304" pitchFamily="18" charset="0"/>
              </a:rPr>
              <a:t>, representing experienced and actively employed professionals.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Responses are concentrated in major technology markets including the </a:t>
            </a:r>
            <a:r>
              <a:rPr lang="en-US" sz="1200" b="1" dirty="0">
                <a:latin typeface="Times New Roman" panose="02020603050405020304" pitchFamily="18" charset="0"/>
                <a:cs typeface="Times New Roman" panose="02020603050405020304" pitchFamily="18" charset="0"/>
              </a:rPr>
              <a:t>United States, India, Germany, and the United Kingdom</a:t>
            </a:r>
            <a:r>
              <a:rPr lang="en-US" sz="1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Most participants hold a </a:t>
            </a:r>
            <a:r>
              <a:rPr lang="en-US" sz="1200" b="1" dirty="0">
                <a:latin typeface="Times New Roman" panose="02020603050405020304" pitchFamily="18" charset="0"/>
                <a:cs typeface="Times New Roman" panose="02020603050405020304" pitchFamily="18" charset="0"/>
              </a:rPr>
              <a:t>Bachelor's degree or higher</a:t>
            </a:r>
            <a:r>
              <a:rPr lang="en-US" sz="1200" dirty="0">
                <a:latin typeface="Times New Roman" panose="02020603050405020304" pitchFamily="18" charset="0"/>
                <a:cs typeface="Times New Roman" panose="02020603050405020304" pitchFamily="18" charset="0"/>
              </a:rPr>
              <a:t>, indicating a highly skilled respondent base. </a:t>
            </a:r>
          </a:p>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OVERALL CONCLUSION</a:t>
            </a:r>
          </a:p>
          <a:p>
            <a:pPr>
              <a:buNone/>
            </a:pPr>
            <a:r>
              <a:rPr lang="en-US" sz="1400" dirty="0">
                <a:latin typeface="Times New Roman" panose="02020603050405020304" pitchFamily="18" charset="0"/>
                <a:cs typeface="Times New Roman" panose="02020603050405020304" pitchFamily="18" charset="0"/>
              </a:rPr>
              <a:t>The dashboard analysis reveals that </a:t>
            </a:r>
            <a:r>
              <a:rPr lang="en-US" sz="1400" b="1" dirty="0">
                <a:latin typeface="Times New Roman" panose="02020603050405020304" pitchFamily="18" charset="0"/>
                <a:cs typeface="Times New Roman" panose="02020603050405020304" pitchFamily="18" charset="0"/>
              </a:rPr>
              <a:t>Python, PostgreSQL, cloud platforms, and modern development frameworks</a:t>
            </a:r>
            <a:r>
              <a:rPr lang="en-US" sz="1400" dirty="0">
                <a:latin typeface="Times New Roman" panose="02020603050405020304" pitchFamily="18" charset="0"/>
                <a:cs typeface="Times New Roman" panose="02020603050405020304" pitchFamily="18" charset="0"/>
              </a:rPr>
              <a:t> are shaping the future technology landscape. Organizations that invest in these technologies and related workforce skills will be better positioned to meet future industry demands and maintain competitive advantage.</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1715293" y="888827"/>
            <a:ext cx="8761413" cy="706964"/>
          </a:xfrm>
        </p:spPr>
        <p:txBody>
          <a:bodyPr/>
          <a:lstStyle/>
          <a:p>
            <a:pPr algn="ctr"/>
            <a:r>
              <a:rPr lang="en-US" b="1" dirty="0">
                <a:latin typeface="Times New Roman" panose="02020603050405020304" pitchFamily="18" charset="0"/>
                <a:cs typeface="Times New Roman" panose="02020603050405020304" pitchFamily="18" charset="0"/>
              </a:rPr>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179108" y="2253006"/>
            <a:ext cx="5916891" cy="4166648"/>
          </a:xfrm>
        </p:spPr>
        <p:txBody>
          <a:bodyPr>
            <a:normAutofit fontScale="70000" lnSpcReduction="20000"/>
          </a:bodyPr>
          <a:lstStyle/>
          <a:p>
            <a:pPr marL="0" indent="0" algn="ctr">
              <a:buNone/>
            </a:pPr>
            <a:r>
              <a:rPr lang="en-US" sz="2400" b="1" dirty="0">
                <a:latin typeface="Times New Roman" panose="02020603050405020304" pitchFamily="18" charset="0"/>
                <a:cs typeface="Times New Roman" panose="02020603050405020304" pitchFamily="18" charset="0"/>
              </a:rPr>
              <a:t>OVERALL FINDINGS</a:t>
            </a:r>
          </a:p>
          <a:p>
            <a:pPr marL="0" indent="0">
              <a:buNone/>
            </a:pPr>
            <a:r>
              <a:rPr lang="en-US" sz="1900" b="1" dirty="0">
                <a:latin typeface="Times New Roman" panose="02020603050405020304" pitchFamily="18" charset="0"/>
                <a:cs typeface="Times New Roman" panose="02020603050405020304" pitchFamily="18" charset="0"/>
              </a:rPr>
              <a:t>Finding 1: Technology Adoption</a:t>
            </a:r>
            <a:endParaRPr lang="en-US" sz="19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Python, JavaScript, SQL, PostgreSQL, and Cloud Platforms (AWS/Azure) remain the most widely adopted technologies. </a:t>
            </a:r>
          </a:p>
          <a:p>
            <a:r>
              <a:rPr lang="en-US" dirty="0">
                <a:latin typeface="Times New Roman" panose="02020603050405020304" pitchFamily="18" charset="0"/>
                <a:cs typeface="Times New Roman" panose="02020603050405020304" pitchFamily="18" charset="0"/>
              </a:rPr>
              <a:t>These technologies form the foundation of modern software development, analytics, and cloud computing. </a:t>
            </a:r>
          </a:p>
          <a:p>
            <a:pPr marL="0" indent="0">
              <a:buNone/>
            </a:pPr>
            <a:r>
              <a:rPr lang="en-US" sz="1900" b="1" dirty="0">
                <a:latin typeface="Times New Roman" panose="02020603050405020304" pitchFamily="18" charset="0"/>
                <a:cs typeface="Times New Roman" panose="02020603050405020304" pitchFamily="18" charset="0"/>
              </a:rPr>
              <a:t>Finding 2: Future Technology Preferences</a:t>
            </a:r>
            <a:endParaRPr lang="en-US" sz="19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Developers show strong interest in Python, PostgreSQL, TypeScript, Rust, AI Tools, and Cloud Technologies. </a:t>
            </a:r>
          </a:p>
          <a:p>
            <a:r>
              <a:rPr lang="en-US" dirty="0">
                <a:latin typeface="Times New Roman" panose="02020603050405020304" pitchFamily="18" charset="0"/>
                <a:cs typeface="Times New Roman" panose="02020603050405020304" pitchFamily="18" charset="0"/>
              </a:rPr>
              <a:t>Future demand is shifting toward AI-driven, scalable, and cloud-native solutions. </a:t>
            </a:r>
          </a:p>
          <a:p>
            <a:pPr marL="0" indent="0">
              <a:buNone/>
            </a:pPr>
            <a:r>
              <a:rPr lang="en-US" sz="1900" b="1" dirty="0">
                <a:latin typeface="Times New Roman" panose="02020603050405020304" pitchFamily="18" charset="0"/>
                <a:cs typeface="Times New Roman" panose="02020603050405020304" pitchFamily="18" charset="0"/>
              </a:rPr>
              <a:t>Finding 3: Workforce &amp; Market Trends</a:t>
            </a:r>
            <a:endParaRPr lang="en-US" sz="19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Most respondents are experienced professionals aged 25–44 years. </a:t>
            </a:r>
          </a:p>
          <a:p>
            <a:r>
              <a:rPr lang="en-US" dirty="0">
                <a:latin typeface="Times New Roman" panose="02020603050405020304" pitchFamily="18" charset="0"/>
                <a:cs typeface="Times New Roman" panose="02020603050405020304" pitchFamily="18" charset="0"/>
              </a:rPr>
              <a:t>Job opportunities are concentrated in major technology hubs such as Washington DC, Seattle, and New York. </a:t>
            </a:r>
          </a:p>
          <a:p>
            <a:r>
              <a:rPr lang="en-US" dirty="0">
                <a:latin typeface="Times New Roman" panose="02020603050405020304" pitchFamily="18" charset="0"/>
                <a:cs typeface="Times New Roman" panose="02020603050405020304" pitchFamily="18" charset="0"/>
              </a:rPr>
              <a:t>High-demand skills continue to command competitive salaries.</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096000" y="2334672"/>
            <a:ext cx="5644299" cy="4351338"/>
          </a:xfrm>
        </p:spPr>
        <p:txBody>
          <a:bodyPr>
            <a:normAutofit fontScale="70000" lnSpcReduction="20000"/>
          </a:bodyPr>
          <a:lstStyle/>
          <a:p>
            <a:pPr marL="0" indent="0" algn="ctr">
              <a:buNone/>
            </a:pPr>
            <a:r>
              <a:rPr lang="en-US" sz="2900" b="1" dirty="0">
                <a:latin typeface="Times New Roman" panose="02020603050405020304" pitchFamily="18" charset="0"/>
                <a:cs typeface="Times New Roman" panose="02020603050405020304" pitchFamily="18" charset="0"/>
              </a:rPr>
              <a:t>IMPLICATIONS</a:t>
            </a:r>
          </a:p>
          <a:p>
            <a:pPr marL="0" indent="0">
              <a:buNone/>
            </a:pPr>
            <a:r>
              <a:rPr lang="en-US" sz="2300" b="1" dirty="0">
                <a:latin typeface="Times New Roman" panose="02020603050405020304" pitchFamily="18" charset="0"/>
                <a:cs typeface="Times New Roman" panose="02020603050405020304" pitchFamily="18" charset="0"/>
              </a:rPr>
              <a:t>Implication 1: Workforce Development</a:t>
            </a:r>
            <a:endParaRPr lang="en-US" sz="23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Organizations should prioritize training programs in Python, Cloud Computing, Data Engineering, and AI technologies. </a:t>
            </a:r>
          </a:p>
          <a:p>
            <a:pPr marL="0" indent="0">
              <a:buNone/>
            </a:pPr>
            <a:r>
              <a:rPr lang="en-US" sz="2300" b="1" dirty="0">
                <a:latin typeface="Times New Roman" panose="02020603050405020304" pitchFamily="18" charset="0"/>
                <a:cs typeface="Times New Roman" panose="02020603050405020304" pitchFamily="18" charset="0"/>
              </a:rPr>
              <a:t>Implication 2: Talent Acquisition Strategy</a:t>
            </a:r>
            <a:endParaRPr lang="en-US" sz="23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Recruitment efforts should focus on high-demand technical skills including Python, PostgreSQL, Cloud Platforms, and modern web technologies. </a:t>
            </a:r>
          </a:p>
          <a:p>
            <a:pPr marL="0" indent="0">
              <a:buNone/>
            </a:pPr>
            <a:r>
              <a:rPr lang="en-US" sz="2300" b="1" dirty="0">
                <a:latin typeface="Times New Roman" panose="02020603050405020304" pitchFamily="18" charset="0"/>
                <a:cs typeface="Times New Roman" panose="02020603050405020304" pitchFamily="18" charset="0"/>
              </a:rPr>
              <a:t>Implication 3: Business Competitiveness</a:t>
            </a:r>
            <a:endParaRPr lang="en-US" sz="23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Companies that invest early in emerging technologies and skill development will be better positioned to innovate and maintain competitive advantage.</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1715293" y="860546"/>
            <a:ext cx="8761413" cy="706964"/>
          </a:xfrm>
        </p:spPr>
        <p:txBody>
          <a:bodyPr anchor="ctr">
            <a:normAutofit/>
          </a:bodyPr>
          <a:lstStyle/>
          <a:p>
            <a:pPr algn="ctr"/>
            <a:r>
              <a:rPr lang="en-US" b="1" dirty="0">
                <a:latin typeface="Times New Roman" panose="02020603050405020304" pitchFamily="18" charset="0"/>
                <a:cs typeface="Times New Roman" panose="02020603050405020304" pitchFamily="18" charset="0"/>
              </a:rPr>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4"/>
          <a:stretch>
            <a:fillRect/>
          </a:stretch>
        </p:blipFill>
        <p:spPr>
          <a:xfrm>
            <a:off x="1154248" y="491196"/>
            <a:ext cx="1334429" cy="1334429"/>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782032" y="2413261"/>
            <a:ext cx="10627936" cy="402895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Times New Roman" panose="02020603050405020304" pitchFamily="18" charset="0"/>
                <a:cs typeface="Times New Roman" panose="02020603050405020304" pitchFamily="18" charset="0"/>
              </a:rPr>
              <a:t>The analysis successfully identified current and future technology trends using the Stack Overflow Developer Survey dataset. </a:t>
            </a:r>
          </a:p>
          <a:p>
            <a:r>
              <a:rPr lang="en-US" sz="2200" dirty="0">
                <a:latin typeface="Times New Roman" panose="02020603050405020304" pitchFamily="18" charset="0"/>
                <a:cs typeface="Times New Roman" panose="02020603050405020304" pitchFamily="18" charset="0"/>
              </a:rPr>
              <a:t>Python, JavaScript, PostgreSQL, AWS, and Azure emerged as the most influential technologies across the developer ecosystem. </a:t>
            </a:r>
          </a:p>
          <a:p>
            <a:r>
              <a:rPr lang="en-US" sz="2200" dirty="0">
                <a:latin typeface="Times New Roman" panose="02020603050405020304" pitchFamily="18" charset="0"/>
                <a:cs typeface="Times New Roman" panose="02020603050405020304" pitchFamily="18" charset="0"/>
              </a:rPr>
              <a:t>Future preferences indicate increasing adoption of AI, cloud computing, automation, and modern development technologies such as TypeScript and Rust. </a:t>
            </a:r>
          </a:p>
          <a:p>
            <a:r>
              <a:rPr lang="en-US" sz="2200" dirty="0">
                <a:latin typeface="Times New Roman" panose="02020603050405020304" pitchFamily="18" charset="0"/>
                <a:cs typeface="Times New Roman" panose="02020603050405020304" pitchFamily="18" charset="0"/>
              </a:rPr>
              <a:t>Organizations should align hiring, training, and technology investments with these trends to ensure long-term growth and workforce readiness.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2600" b="1" dirty="0">
                <a:latin typeface="Times New Roman" panose="02020603050405020304" pitchFamily="18" charset="0"/>
                <a:cs typeface="Times New Roman" panose="02020603050405020304" pitchFamily="18" charset="0"/>
              </a:rPr>
              <a:t>FINAL TAKEAWAY</a:t>
            </a:r>
          </a:p>
          <a:p>
            <a:r>
              <a:rPr lang="en-US" sz="2200" dirty="0">
                <a:latin typeface="Times New Roman" panose="02020603050405020304" pitchFamily="18" charset="0"/>
                <a:cs typeface="Times New Roman" panose="02020603050405020304" pitchFamily="18" charset="0"/>
              </a:rPr>
              <a:t>"Python, Cloud Computing, PostgreSQL, and AI-related technologies are expected to remain key drivers of innovation and technology adoption in the coming years."</a:t>
            </a:r>
          </a:p>
          <a:p>
            <a:endParaRPr lang="en-US"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1715293" y="1001948"/>
            <a:ext cx="8761413" cy="706964"/>
          </a:xfrm>
        </p:spPr>
        <p:txBody>
          <a:bodyPr anchor="ctr">
            <a:normAutofit/>
          </a:bodyPr>
          <a:lstStyle/>
          <a:p>
            <a:pPr algn="ctr"/>
            <a:r>
              <a:rPr lang="en-US" b="1" dirty="0">
                <a:latin typeface="Times New Roman" panose="02020603050405020304" pitchFamily="18" charset="0"/>
                <a:cs typeface="Times New Roman" panose="02020603050405020304" pitchFamily="18" charset="0"/>
              </a:rPr>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4"/>
          <a:stretch>
            <a:fillRect/>
          </a:stretch>
        </p:blipFill>
        <p:spPr>
          <a:xfrm>
            <a:off x="1423502" y="435803"/>
            <a:ext cx="1517661" cy="151766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24207" y="2177591"/>
            <a:ext cx="10929594" cy="39993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dirty="0"/>
          </a:p>
        </p:txBody>
      </p:sp>
      <p:sp>
        <p:nvSpPr>
          <p:cNvPr id="3" name="TextBox 2">
            <a:extLst>
              <a:ext uri="{FF2B5EF4-FFF2-40B4-BE49-F238E27FC236}">
                <a16:creationId xmlns:a16="http://schemas.microsoft.com/office/drawing/2014/main" id="{5AE09CA6-190A-BAEB-DBC5-2B15A2C49776}"/>
              </a:ext>
            </a:extLst>
          </p:cNvPr>
          <p:cNvSpPr txBox="1"/>
          <p:nvPr/>
        </p:nvSpPr>
        <p:spPr>
          <a:xfrm>
            <a:off x="584463" y="2351648"/>
            <a:ext cx="11491274" cy="3293209"/>
          </a:xfrm>
          <a:prstGeom prst="rect">
            <a:avLst/>
          </a:prstGeom>
          <a:noFill/>
        </p:spPr>
        <p:txBody>
          <a:bodyPr wrap="square">
            <a:spAutoFit/>
          </a:bodyPr>
          <a:lstStyle/>
          <a:p>
            <a:pPr algn="ctr">
              <a:buNone/>
            </a:pPr>
            <a:r>
              <a:rPr lang="en-US" sz="2400" b="1" dirty="0">
                <a:latin typeface="Times New Roman" panose="02020603050405020304" pitchFamily="18" charset="0"/>
                <a:cs typeface="Times New Roman" panose="02020603050405020304" pitchFamily="18" charset="0"/>
              </a:rPr>
              <a:t>Additional Analysis Performed</a:t>
            </a:r>
          </a:p>
          <a:p>
            <a:pPr>
              <a:buNone/>
            </a:pPr>
            <a:r>
              <a:rPr lang="en-US" sz="2000" b="1" dirty="0">
                <a:latin typeface="Times New Roman" panose="02020603050405020304" pitchFamily="18" charset="0"/>
                <a:cs typeface="Times New Roman" panose="02020603050405020304" pitchFamily="18" charset="0"/>
              </a:rPr>
              <a:t>Exploratory Data Analysis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Age Distribution of Respondents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Country-wise Developer Distribution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Professional Background Analysis </a:t>
            </a:r>
          </a:p>
          <a:p>
            <a:endParaRPr lang="en-US"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Technology Analysis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Top Programming Languages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Top Databases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Platform Adoption Trends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Technology Preferences </a:t>
            </a:r>
          </a:p>
        </p:txBody>
      </p:sp>
      <p:sp>
        <p:nvSpPr>
          <p:cNvPr id="5" name="TextBox 4">
            <a:extLst>
              <a:ext uri="{FF2B5EF4-FFF2-40B4-BE49-F238E27FC236}">
                <a16:creationId xmlns:a16="http://schemas.microsoft.com/office/drawing/2014/main" id="{71B9672E-2EE6-136C-2651-12C2868824AF}"/>
              </a:ext>
            </a:extLst>
          </p:cNvPr>
          <p:cNvSpPr txBox="1"/>
          <p:nvPr/>
        </p:nvSpPr>
        <p:spPr>
          <a:xfrm>
            <a:off x="5542962" y="2895037"/>
            <a:ext cx="6532775" cy="2923877"/>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Job Market Analysis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Geographic Distribution of Job Postings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Technology Salary Comparison</a:t>
            </a:r>
          </a:p>
          <a:p>
            <a:pPr>
              <a:buNone/>
            </a:pPr>
            <a:endParaRPr lang="en-US"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Supporting Materials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SQL Queries used for analysis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Wrangling and Transformation Steps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Dashboard Screenshots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Additional Charts and Visualizations </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Ion Boardroom</Template>
  <TotalTime>201</TotalTime>
  <Words>2053</Words>
  <Application>Microsoft Office PowerPoint</Application>
  <PresentationFormat>Widescreen</PresentationFormat>
  <Paragraphs>329</Paragraphs>
  <Slides>23</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Century Gothic</vt:lpstr>
      <vt:lpstr>IBM Plex Mono</vt:lpstr>
      <vt:lpstr>IBM Plex Sans</vt:lpstr>
      <vt:lpstr>Times New Roman</vt:lpstr>
      <vt:lpstr>Wingdings 3</vt:lpstr>
      <vt:lpstr>Ion Boardroom</vt:lpstr>
      <vt:lpstr>Technology Trends Analysis Using Stack Overflow Developer Survey 2025</vt:lpstr>
      <vt:lpstr>PowerPoint Presentation</vt:lpstr>
      <vt:lpstr>EXECUTIVE SUMMARY</vt:lpstr>
      <vt:lpstr>INTRODUCTION</vt:lpstr>
      <vt:lpstr>METHODOLOGY</vt:lpstr>
      <vt:lpstr>RESULTS</vt:lpstr>
      <vt:lpstr>RESULTS</vt:lpstr>
      <vt:lpstr>RESULTS</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Chavi Jain</cp:lastModifiedBy>
  <cp:revision>9</cp:revision>
  <dcterms:created xsi:type="dcterms:W3CDTF">2024-10-30T05:40:03Z</dcterms:created>
  <dcterms:modified xsi:type="dcterms:W3CDTF">2026-06-01T16:38:42Z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